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68" r:id="rId2"/>
    <p:sldId id="257" r:id="rId3"/>
    <p:sldId id="258" r:id="rId4"/>
    <p:sldId id="269" r:id="rId5"/>
    <p:sldId id="270" r:id="rId6"/>
    <p:sldId id="271" r:id="rId7"/>
    <p:sldId id="272" r:id="rId8"/>
    <p:sldId id="274" r:id="rId9"/>
    <p:sldId id="275" r:id="rId10"/>
    <p:sldId id="276" r:id="rId11"/>
    <p:sldId id="273" r:id="rId12"/>
    <p:sldId id="259" r:id="rId13"/>
    <p:sldId id="264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3824" autoAdjust="0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91" y="3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76977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scikit-learn.org/stable/modules/generated/sklearn.naive_bayes.GaussianNB.html#:~:text=" TargetMode="External"/><Relationship Id="rId3" Type="http://schemas.openxmlformats.org/officeDocument/2006/relationships/hyperlink" Target="https://scikit-learn.org/stable/modules/generated/sklearn.svm.SVC.html#:~:text=C" TargetMode="External"/><Relationship Id="rId7" Type="http://schemas.openxmlformats.org/officeDocument/2006/relationships/hyperlink" Target="https://scikit-learn.org/stable/modules/naive_bayes.html#:~:text=1.9.%20Naive%20Bayes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datacamp.com/tutorial/decision-tree-classification-python#:~:text=A%20decision%20tree%20is%20a,leaf%20node%20represents%20the%20outcome" TargetMode="External"/><Relationship Id="rId11" Type="http://schemas.openxmlformats.org/officeDocument/2006/relationships/hyperlink" Target="https://scikit-learn.org/stable/modules/generated/sklearn.ensemble.RandomForestClassifier.html#:~:text=A%20random%20forest%20is%20a,used%20to%20build%20each%20tree" TargetMode="External"/><Relationship Id="rId5" Type="http://schemas.openxmlformats.org/officeDocument/2006/relationships/hyperlink" Target="https://scikit-learn.org/stable/modules/generated/sklearn.neural_network.MLPClassifier.html#:~:text=Multi" TargetMode="External"/><Relationship Id="rId10" Type="http://schemas.openxmlformats.org/officeDocument/2006/relationships/hyperlink" Target="https://scikit-learn.org/stable/modules/generated/sklearn.ensemble.AdaBoostClassifier.html#:~:text=An%20AdaBoost%20classifier" TargetMode="External"/><Relationship Id="rId4" Type="http://schemas.openxmlformats.org/officeDocument/2006/relationships/hyperlink" Target="https://scikit-learn.org/stable/modules/generated/sklearn.linear_model.Perceptron.html#:~:text=Linear%20perceptron%20classifier" TargetMode="External"/><Relationship Id="rId9" Type="http://schemas.openxmlformats.org/officeDocument/2006/relationships/hyperlink" Target="https://scikit-learn.org/stable/modules/generated/sklearn.neighbors.KNeighborsClassifier.html#:~:text=Classifier%20implementing%20the%20k,vote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hyperlink" Target="https://scikit-learn.org/stable/modules/generated/sklearn.naive_bayes.GaussianNB.html#:~:text=" TargetMode="External"/><Relationship Id="rId13" Type="http://schemas.openxmlformats.org/officeDocument/2006/relationships/hyperlink" Target="https://www.geeksforgeeks.org/machine-learning/advantages-and-disadvantages-of-different-classification-models/#:~:text=,better%20most%20of%20the%20time" TargetMode="External"/><Relationship Id="rId3" Type="http://schemas.openxmlformats.org/officeDocument/2006/relationships/hyperlink" Target="https://scikit-learn.org/stable/modules/generated/sklearn.svm.SVC.html#:~:text=C" TargetMode="External"/><Relationship Id="rId7" Type="http://schemas.openxmlformats.org/officeDocument/2006/relationships/hyperlink" Target="https://scikit-learn.org/stable/modules/naive_bayes.html#:~:text=1.9.%20Naive%20Bayes" TargetMode="External"/><Relationship Id="rId12" Type="http://schemas.openxmlformats.org/officeDocument/2006/relationships/hyperlink" Target="https://www.geeksforgeeks.org/machine-learning/advantages-and-disadvantages-of-different-classification-models/#:~:text=%2A%20K%20,got%20the%20most%20neighbours%20in" TargetMode="External"/><Relationship Id="rId2" Type="http://schemas.openxmlformats.org/officeDocument/2006/relationships/notesSlide" Target="../notesSlides/notesSlide3.xml"/><Relationship Id="rId16" Type="http://schemas.openxmlformats.org/officeDocument/2006/relationships/hyperlink" Target="https://www.geeksforgeeks.org/machine-learning/advantages-and-disadvantages-of-different-classification-models/#:~:text=,to%20the%20majority%20vote%20category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datacamp.com/tutorial/decision-tree-classification-python#:~:text=A%20decision%20tree%20is%20a,leaf%20node%20represents%20the%20outcome" TargetMode="External"/><Relationship Id="rId11" Type="http://schemas.openxmlformats.org/officeDocument/2006/relationships/hyperlink" Target="https://scikit-learn.org/stable/modules/generated/sklearn.ensemble.RandomForestClassifier.html#:~:text=A%20random%20forest%20is%20a,used%20to%20build%20each%20tree" TargetMode="External"/><Relationship Id="rId5" Type="http://schemas.openxmlformats.org/officeDocument/2006/relationships/hyperlink" Target="https://scikit-learn.org/stable/modules/generated/sklearn.neural_network.MLPClassifier.html#:~:text=Multi" TargetMode="External"/><Relationship Id="rId15" Type="http://schemas.openxmlformats.org/officeDocument/2006/relationships/hyperlink" Target="https://www.geeksforgeeks.org/machine-learning/advantages-and-disadvantages-of-different-classification-models/#:~:text=,classes%20a%20new%20data%20point" TargetMode="External"/><Relationship Id="rId10" Type="http://schemas.openxmlformats.org/officeDocument/2006/relationships/hyperlink" Target="https://scikit-learn.org/stable/modules/generated/sklearn.ensemble.AdaBoostClassifier.html#:~:text=An%20AdaBoost%20classifier" TargetMode="External"/><Relationship Id="rId4" Type="http://schemas.openxmlformats.org/officeDocument/2006/relationships/hyperlink" Target="https://scikit-learn.org/stable/modules/generated/sklearn.linear_model.Perceptron.html#:~:text=Linear%20perceptron%20classifier" TargetMode="External"/><Relationship Id="rId9" Type="http://schemas.openxmlformats.org/officeDocument/2006/relationships/hyperlink" Target="https://scikit-learn.org/stable/modules/generated/sklearn.neighbors.KNeighborsClassifier.html#:~:text=Classifier%20implementing%20the%20k,vote" TargetMode="External"/><Relationship Id="rId14" Type="http://schemas.openxmlformats.org/officeDocument/2006/relationships/hyperlink" Target="https://www.geeksforgeeks.org/machine-learning/advantages-and-disadvantages-of-different-classification-models/#:~:text=,a%20probabilistic%20classifier%20model%20whose" TargetMode="Externa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hyperlink" Target="https://scikit-learn.org/stable/modules/generated/sklearn.ensemble.AdaBoostClassifier.html#:~:text=An%20AdaBoost%20classifier" TargetMode="External"/><Relationship Id="rId13" Type="http://schemas.openxmlformats.org/officeDocument/2006/relationships/hyperlink" Target="https://www.geeksforgeeks.org/machine-learning/advantages-and-disadvantages-of-different-classification-models/#:~:text=,classes%20a%20new%20data%20point" TargetMode="External"/><Relationship Id="rId3" Type="http://schemas.openxmlformats.org/officeDocument/2006/relationships/image" Target="../media/image9.png"/><Relationship Id="rId7" Type="http://schemas.openxmlformats.org/officeDocument/2006/relationships/hyperlink" Target="https://scikit-learn.org/stable/modules/generated/sklearn.neighbors.KNeighborsClassifier.html#:~:text=Classifier%20implementing%20the%20k,vote" TargetMode="External"/><Relationship Id="rId12" Type="http://schemas.openxmlformats.org/officeDocument/2006/relationships/hyperlink" Target="https://www.geeksforgeeks.org/machine-learning/advantages-and-disadvantages-of-different-classification-models/#:~:text=,a%20probabilistic%20classifier%20model%20whose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scikit-learn.org/stable/modules/generated/sklearn.naive_bayes.GaussianNB.html#:~:text=" TargetMode="External"/><Relationship Id="rId11" Type="http://schemas.openxmlformats.org/officeDocument/2006/relationships/hyperlink" Target="https://www.geeksforgeeks.org/machine-learning/advantages-and-disadvantages-of-different-classification-models/#:~:text=,better%20most%20of%20the%20time" TargetMode="External"/><Relationship Id="rId5" Type="http://schemas.openxmlformats.org/officeDocument/2006/relationships/hyperlink" Target="https://scikit-learn.org/stable/modules/naive_bayes.html#:~:text=1.9.%20Naive%20Bayes" TargetMode="External"/><Relationship Id="rId10" Type="http://schemas.openxmlformats.org/officeDocument/2006/relationships/hyperlink" Target="https://www.geeksforgeeks.org/machine-learning/advantages-and-disadvantages-of-different-classification-models/#:~:text=%2A%20K%20,got%20the%20most%20neighbours%20in" TargetMode="External"/><Relationship Id="rId4" Type="http://schemas.openxmlformats.org/officeDocument/2006/relationships/hyperlink" Target="https://www.datacamp.com/tutorial/decision-tree-classification-python#:~:text=A%20decision%20tree%20is%20a,leaf%20node%20represents%20the%20outcome" TargetMode="External"/><Relationship Id="rId9" Type="http://schemas.openxmlformats.org/officeDocument/2006/relationships/hyperlink" Target="https://scikit-learn.org/stable/modules/generated/sklearn.ensemble.RandomForestClassifier.html#:~:text=A%20random%20forest%20is%20a,used%20to%20build%20each%20tree" TargetMode="External"/><Relationship Id="rId14" Type="http://schemas.openxmlformats.org/officeDocument/2006/relationships/hyperlink" Target="https://www.geeksforgeeks.org/machine-learning/advantages-and-disadvantages-of-different-classification-models/#:~:text=,to%20the%20majority%20vote%20category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6000" y="1417588"/>
            <a:ext cx="4572000" cy="1015663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sz="2000" b="1" dirty="0" smtClean="0"/>
              <a:t>Comparative Analysis of Classification Algorithms</a:t>
            </a:r>
            <a:r>
              <a:rPr lang="en-US" sz="2000" dirty="0" smtClean="0"/>
              <a:t>
</a:t>
            </a:r>
            <a:endParaRPr lang="en-US" sz="2000" dirty="0"/>
          </a:p>
        </p:txBody>
      </p:sp>
      <p:sp>
        <p:nvSpPr>
          <p:cNvPr id="3" name="Rectangle 2"/>
          <p:cNvSpPr/>
          <p:nvPr/>
        </p:nvSpPr>
        <p:spPr>
          <a:xfrm>
            <a:off x="0" y="2553385"/>
            <a:ext cx="9144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/>
              <a:t>SVC, Perceptron, MLP, Decision Tree, Naive Bayes, KNN, AdaBoost &amp; Random Forest</a:t>
            </a:r>
          </a:p>
        </p:txBody>
      </p:sp>
      <p:sp>
        <p:nvSpPr>
          <p:cNvPr id="4" name="Rectangle 3"/>
          <p:cNvSpPr/>
          <p:nvPr/>
        </p:nvSpPr>
        <p:spPr>
          <a:xfrm>
            <a:off x="3860908" y="3459745"/>
            <a:ext cx="14221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 b="1" dirty="0"/>
              <a:t>Mustafa </a:t>
            </a:r>
            <a:endParaRPr lang="en-US" sz="1200" b="1" dirty="0" smtClean="0"/>
          </a:p>
          <a:p>
            <a:pPr algn="ctr"/>
            <a:r>
              <a:rPr lang="en-US" sz="1200" b="1" dirty="0" smtClean="0"/>
              <a:t>December</a:t>
            </a:r>
            <a:r>
              <a:rPr lang="en-US" sz="1200" b="1" dirty="0"/>
              <a:t> 17, 2025</a:t>
            </a:r>
          </a:p>
        </p:txBody>
      </p:sp>
    </p:spTree>
    <p:extLst>
      <p:ext uri="{BB962C8B-B14F-4D97-AF65-F5344CB8AC3E}">
        <p14:creationId xmlns:p14="http://schemas.microsoft.com/office/powerpoint/2010/main" val="8371119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365760"/>
            <a:ext cx="62286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/>
              <a:t>Outline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75905"/>
            <a:ext cx="3522221" cy="27432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342900" indent="-342900">
              <a:buFont typeface="+mj-lt"/>
              <a:buAutoNum type="arabicPeriod"/>
            </a:pPr>
            <a:r>
              <a:rPr lang="en-US" sz="1400" dirty="0"/>
              <a:t>Definitions of major classifiers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/>
              <a:t>Key differences &amp; characteristics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/>
              <a:t>Typical use cases &amp; applications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/>
              <a:t>Illustrative examples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/>
              <a:t>Experimental comparison &amp; trade‑offs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/>
              <a:t>Recommendations &amp; conclusions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375C"/>
                </a:solidFill>
              </a:rPr>
              <a:t>Classifier Definitions</a:t>
            </a:r>
            <a:endParaRPr lang="en-US" sz="2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367284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Algorithm</a:t>
                      </a:r>
                      <a:endParaRPr lang="en-US" sz="1100" dirty="0"/>
                    </a:p>
                  </a:txBody>
                  <a:tcPr anchor="ctr">
                    <a:lnL w="381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7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Definition</a:t>
                      </a:r>
                      <a:endParaRPr lang="en-US" sz="1100" dirty="0"/>
                    </a:p>
                  </a:txBody>
                  <a:tcPr anchor="ctr">
                    <a:lnL w="381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7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0375C"/>
                          </a:solidFill>
                        </a:rPr>
                        <a:t>SVC</a:t>
                      </a:r>
                      <a:endParaRPr lang="en-US" sz="1100" dirty="0"/>
                    </a:p>
                  </a:txBody>
                  <a:tcPr>
                    <a:lnL w="381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GB" sz="1100" dirty="0" smtClean="0"/>
                        <a:t>C-Support Vector Classification maximises the margin between classes using kernel functions; training complexity grows quadratically with the number of samples.</a:t>
                      </a:r>
                      <a:endParaRPr lang="en-US" sz="1100" dirty="0"/>
                    </a:p>
                  </a:txBody>
                  <a:tcPr>
                    <a:lnL w="381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0375C"/>
                          </a:solidFill>
                        </a:rPr>
                        <a:t>Perceptron</a:t>
                      </a:r>
                      <a:endParaRPr lang="en-US" sz="1100" dirty="0"/>
                    </a:p>
                  </a:txBody>
                  <a:tcPr>
                    <a:lnL w="381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GB" sz="1100" dirty="0" smtClean="0"/>
                        <a:t>A linear classifier trained using the perceptron loss; a special case of stochastic gradient descent with a constant learning rate.</a:t>
                      </a:r>
                      <a:endParaRPr lang="en-US" sz="1100" dirty="0"/>
                    </a:p>
                  </a:txBody>
                  <a:tcPr>
                    <a:lnL w="381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0375C"/>
                          </a:solidFill>
                        </a:rPr>
                        <a:t>MLPClassifier</a:t>
                      </a:r>
                      <a:endParaRPr lang="en-US" sz="1100" dirty="0"/>
                    </a:p>
                  </a:txBody>
                  <a:tcPr>
                    <a:lnL w="381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GB" sz="1100" dirty="0" smtClean="0"/>
                        <a:t>A multi-layer perceptron that minimises log-loss using L-BFGS, SGD, or Adam; hidden layers and activation functions enable modelling of non-linear relationships.</a:t>
                      </a:r>
                      <a:endParaRPr lang="en-US" sz="1100" dirty="0"/>
                    </a:p>
                  </a:txBody>
                  <a:tcPr>
                    <a:lnL w="381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0375C"/>
                          </a:solidFill>
                        </a:rPr>
                        <a:t>Decision Tree</a:t>
                      </a:r>
                      <a:endParaRPr lang="en-US" sz="1100" dirty="0"/>
                    </a:p>
                  </a:txBody>
                  <a:tcPr>
                    <a:lnL w="381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GB" sz="1100" dirty="0" smtClean="0"/>
                        <a:t>A flowchart-based model of feature tests and outcomes; a non-parametric white-box classifier that is easy to interpret and typically fast to train.</a:t>
                      </a:r>
                      <a:endParaRPr lang="en-US" sz="1100" dirty="0"/>
                    </a:p>
                  </a:txBody>
                  <a:tcPr>
                    <a:lnL w="381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0375C"/>
                          </a:solidFill>
                        </a:rPr>
                        <a:t>Gaussian NB</a:t>
                      </a:r>
                      <a:endParaRPr lang="en-US" sz="1100" dirty="0"/>
                    </a:p>
                  </a:txBody>
                  <a:tcPr>
                    <a:lnL w="381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GB" sz="1100" dirty="0" smtClean="0"/>
                        <a:t>A Naive Bayes classifier assuming Gaussian feature distributions and conditional independence between features; supports online updates via partial fitting.</a:t>
                      </a:r>
                      <a:endParaRPr lang="en-US" sz="1100" dirty="0"/>
                    </a:p>
                  </a:txBody>
                  <a:tcPr>
                    <a:lnL w="381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0375C"/>
                          </a:solidFill>
                        </a:rPr>
                        <a:t>KNN</a:t>
                      </a:r>
                      <a:endParaRPr lang="en-US" sz="1100" dirty="0"/>
                    </a:p>
                  </a:txBody>
                  <a:tcPr>
                    <a:lnL w="381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GB" sz="1100" dirty="0" smtClean="0"/>
                        <a:t>k-Nearest Neighbours classifies instances by majority vote of the k closest samples using a chosen distance metric; weights may be uniform or distance-based.</a:t>
                      </a:r>
                      <a:endParaRPr lang="en-US" sz="1100" dirty="0"/>
                    </a:p>
                  </a:txBody>
                  <a:tcPr>
                    <a:lnL w="381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0375C"/>
                          </a:solidFill>
                        </a:rPr>
                        <a:t>AdaBoost</a:t>
                      </a:r>
                      <a:endParaRPr lang="en-US" sz="1100" dirty="0"/>
                    </a:p>
                  </a:txBody>
                  <a:tcPr>
                    <a:lnL w="381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GB" sz="1100" dirty="0" smtClean="0"/>
                        <a:t>An ensemble method that sequentially reweights misclassified samples so subsequent weak learners focus on harder cases.</a:t>
                      </a:r>
                      <a:endParaRPr lang="en-US" sz="1100" dirty="0"/>
                    </a:p>
                  </a:txBody>
                  <a:tcPr>
                    <a:lnL w="381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0375C"/>
                          </a:solidFill>
                        </a:rPr>
                        <a:t>Random Forest</a:t>
                      </a:r>
                      <a:endParaRPr lang="en-US" sz="1100" dirty="0"/>
                    </a:p>
                  </a:txBody>
                  <a:tcPr>
                    <a:lnL w="381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GB" sz="1100" dirty="0" smtClean="0"/>
                        <a:t>An ensemble of decision trees trained on bootstrapped subsets with feature randomness; predictions are aggregated to improve accuracy and reduce overfitting.</a:t>
                      </a:r>
                      <a:endParaRPr lang="en-US" sz="1100" dirty="0"/>
                    </a:p>
                  </a:txBody>
                  <a:tcPr>
                    <a:lnL w="381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3" name="Text 1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u="sng" dirty="0">
                <a:solidFill>
                  <a:srgbClr val="10375C"/>
                </a:solidFill>
                <a:hlinkClick r:id="rId3"/>
              </a:rPr>
              <a:t>[1]</a:t>
            </a:r>
            <a:r>
              <a:rPr lang="en-US" sz="700" dirty="0">
                <a:solidFill>
                  <a:srgbClr val="000000"/>
                </a:solidFill>
              </a:rPr>
              <a:t>   </a:t>
            </a:r>
            <a:r>
              <a:rPr lang="en-US" sz="700" u="sng" dirty="0">
                <a:solidFill>
                  <a:srgbClr val="10375C"/>
                </a:solidFill>
                <a:hlinkClick r:id="rId4"/>
              </a:rPr>
              <a:t>[2]</a:t>
            </a:r>
            <a:r>
              <a:rPr lang="en-US" sz="700" dirty="0">
                <a:solidFill>
                  <a:srgbClr val="000000"/>
                </a:solidFill>
              </a:rPr>
              <a:t>   </a:t>
            </a:r>
            <a:r>
              <a:rPr lang="en-US" sz="700" u="sng" dirty="0">
                <a:solidFill>
                  <a:srgbClr val="10375C"/>
                </a:solidFill>
                <a:hlinkClick r:id="rId5"/>
              </a:rPr>
              <a:t>[3]</a:t>
            </a:r>
            <a:r>
              <a:rPr lang="en-US" sz="700" dirty="0">
                <a:solidFill>
                  <a:srgbClr val="000000"/>
                </a:solidFill>
              </a:rPr>
              <a:t>   </a:t>
            </a:r>
            <a:r>
              <a:rPr lang="en-US" sz="700" u="sng" dirty="0">
                <a:solidFill>
                  <a:srgbClr val="10375C"/>
                </a:solidFill>
                <a:hlinkClick r:id="rId6"/>
              </a:rPr>
              <a:t>[4]</a:t>
            </a:r>
            <a:r>
              <a:rPr lang="en-US" sz="700" dirty="0">
                <a:solidFill>
                  <a:srgbClr val="000000"/>
                </a:solidFill>
              </a:rPr>
              <a:t>   </a:t>
            </a:r>
            <a:r>
              <a:rPr lang="en-US" sz="700" u="sng" dirty="0">
                <a:solidFill>
                  <a:srgbClr val="10375C"/>
                </a:solidFill>
                <a:hlinkClick r:id="rId7"/>
              </a:rPr>
              <a:t>[5]</a:t>
            </a:r>
            <a:r>
              <a:rPr lang="en-US" sz="700" dirty="0">
                <a:solidFill>
                  <a:srgbClr val="000000"/>
                </a:solidFill>
              </a:rPr>
              <a:t>   </a:t>
            </a:r>
            <a:r>
              <a:rPr lang="en-US" sz="700" u="sng" dirty="0">
                <a:solidFill>
                  <a:srgbClr val="10375C"/>
                </a:solidFill>
                <a:hlinkClick r:id="rId8"/>
              </a:rPr>
              <a:t>[6]</a:t>
            </a:r>
            <a:r>
              <a:rPr lang="en-US" sz="700" dirty="0">
                <a:solidFill>
                  <a:srgbClr val="000000"/>
                </a:solidFill>
              </a:rPr>
              <a:t>   </a:t>
            </a:r>
            <a:r>
              <a:rPr lang="en-US" sz="700" u="sng" dirty="0">
                <a:solidFill>
                  <a:srgbClr val="10375C"/>
                </a:solidFill>
                <a:hlinkClick r:id="rId9"/>
              </a:rPr>
              <a:t>[7]</a:t>
            </a:r>
            <a:r>
              <a:rPr lang="en-US" sz="700" dirty="0">
                <a:solidFill>
                  <a:srgbClr val="000000"/>
                </a:solidFill>
              </a:rPr>
              <a:t>   </a:t>
            </a:r>
            <a:r>
              <a:rPr lang="en-US" sz="700" u="sng" dirty="0">
                <a:solidFill>
                  <a:srgbClr val="10375C"/>
                </a:solidFill>
                <a:hlinkClick r:id="rId10"/>
              </a:rPr>
              <a:t>[8]</a:t>
            </a:r>
            <a:r>
              <a:rPr lang="en-US" sz="700" dirty="0">
                <a:solidFill>
                  <a:srgbClr val="000000"/>
                </a:solidFill>
              </a:rPr>
              <a:t>   </a:t>
            </a:r>
            <a:r>
              <a:rPr lang="en-US" sz="700" u="sng" dirty="0">
                <a:solidFill>
                  <a:srgbClr val="10375C"/>
                </a:solidFill>
                <a:hlinkClick r:id="rId11"/>
              </a:rPr>
              <a:t>[9]</a:t>
            </a:r>
            <a:endParaRPr lang="en-US" sz="7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57461" y="420796"/>
            <a:ext cx="71325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b="1" dirty="0"/>
              <a:t>SVC: Support Vector Classifier (Support Vector Machine for classification)</a:t>
            </a:r>
          </a:p>
        </p:txBody>
      </p:sp>
      <p:sp>
        <p:nvSpPr>
          <p:cNvPr id="3" name="Rectangle 2"/>
          <p:cNvSpPr/>
          <p:nvPr/>
        </p:nvSpPr>
        <p:spPr>
          <a:xfrm>
            <a:off x="647507" y="1101399"/>
            <a:ext cx="4429194" cy="9002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50" b="1" dirty="0"/>
              <a:t>Where We Use </a:t>
            </a:r>
            <a:r>
              <a:rPr lang="en-US" sz="1050" b="1" dirty="0" smtClean="0"/>
              <a:t>It:</a:t>
            </a:r>
          </a:p>
          <a:p>
            <a:endParaRPr lang="en-US" sz="1050" dirty="0"/>
          </a:p>
          <a:p>
            <a:pPr marL="228600" indent="-228600">
              <a:buFont typeface="+mj-lt"/>
              <a:buAutoNum type="arabicPeriod"/>
            </a:pPr>
            <a:r>
              <a:rPr lang="en-GB" sz="1050" dirty="0"/>
              <a:t>Binary and multi-class classification </a:t>
            </a:r>
            <a:r>
              <a:rPr lang="en-GB" sz="1050" dirty="0" smtClean="0"/>
              <a:t>problems</a:t>
            </a:r>
          </a:p>
          <a:p>
            <a:pPr marL="228600" indent="-228600">
              <a:buFont typeface="+mj-lt"/>
              <a:buAutoNum type="arabicPeriod"/>
            </a:pPr>
            <a:r>
              <a:rPr lang="en-GB" sz="1050" dirty="0"/>
              <a:t>High-dimensional data (e.g. text classification, bioinformatics</a:t>
            </a:r>
            <a:r>
              <a:rPr lang="en-GB" sz="1050" dirty="0" smtClean="0"/>
              <a:t>)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050" dirty="0"/>
              <a:t>Non-linear classification using kernel functions (RBF, polynomial</a:t>
            </a:r>
            <a:r>
              <a:rPr lang="en-US" sz="1050" dirty="0" smtClean="0"/>
              <a:t>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7507" y="2115989"/>
            <a:ext cx="4572000" cy="101566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 sz="1200" b="1" dirty="0" smtClean="0"/>
              <a:t>Advantages:</a:t>
            </a:r>
          </a:p>
          <a:p>
            <a:endParaRPr lang="en-GB" sz="1200" dirty="0"/>
          </a:p>
          <a:p>
            <a:pPr marL="228600" indent="-228600">
              <a:buFont typeface="+mj-lt"/>
              <a:buAutoNum type="arabicPeriod"/>
            </a:pPr>
            <a:r>
              <a:rPr lang="en-GB" sz="1200" dirty="0"/>
              <a:t>Effective in high-dimensional feature </a:t>
            </a:r>
            <a:r>
              <a:rPr lang="en-GB" sz="1200" dirty="0" smtClean="0"/>
              <a:t>spaces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dirty="0" smtClean="0"/>
              <a:t>Maximizes </a:t>
            </a:r>
            <a:r>
              <a:rPr lang="en-US" sz="1200" dirty="0"/>
              <a:t>margin → good </a:t>
            </a:r>
            <a:r>
              <a:rPr lang="en-US" sz="1200" dirty="0" smtClean="0"/>
              <a:t>generalization</a:t>
            </a:r>
          </a:p>
          <a:p>
            <a:pPr marL="228600" indent="-228600">
              <a:buFont typeface="+mj-lt"/>
              <a:buAutoNum type="arabicPeriod"/>
            </a:pPr>
            <a:r>
              <a:rPr lang="en-GB" sz="1200" dirty="0"/>
              <a:t>Kernel trick enables non-linear decision </a:t>
            </a:r>
            <a:r>
              <a:rPr lang="en-GB" sz="1200" dirty="0" smtClean="0"/>
              <a:t>boundaries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7507" y="3456139"/>
            <a:ext cx="4572000" cy="101566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 sz="1200" b="1" dirty="0" smtClean="0"/>
              <a:t>Disadvantages:</a:t>
            </a:r>
          </a:p>
          <a:p>
            <a:endParaRPr lang="en-GB" sz="1200" b="1" dirty="0"/>
          </a:p>
          <a:p>
            <a:pPr marL="228600" indent="-228600">
              <a:buFont typeface="+mj-lt"/>
              <a:buAutoNum type="arabicPeriod"/>
            </a:pPr>
            <a:r>
              <a:rPr lang="en-GB" sz="1200" dirty="0"/>
              <a:t>Computationally expensive for large </a:t>
            </a:r>
            <a:r>
              <a:rPr lang="en-GB" sz="1200" dirty="0" smtClean="0"/>
              <a:t>datasets</a:t>
            </a:r>
          </a:p>
          <a:p>
            <a:pPr marL="228600" indent="-228600">
              <a:buFont typeface="+mj-lt"/>
              <a:buAutoNum type="arabicPeriod"/>
            </a:pPr>
            <a:r>
              <a:rPr lang="en-GB" sz="1200" dirty="0"/>
              <a:t>Sensitive to kernel choice and </a:t>
            </a:r>
            <a:r>
              <a:rPr lang="en-GB" sz="1200" dirty="0" smtClean="0"/>
              <a:t>hyperparameters</a:t>
            </a:r>
          </a:p>
          <a:p>
            <a:pPr marL="228600" indent="-228600">
              <a:buFont typeface="+mj-lt"/>
              <a:buAutoNum type="arabicPeriod"/>
            </a:pPr>
            <a:r>
              <a:rPr lang="en-GB" sz="1200" dirty="0"/>
              <a:t>Less interpretable than tree-based </a:t>
            </a:r>
            <a:r>
              <a:rPr lang="en-GB" sz="1200" dirty="0" smtClean="0"/>
              <a:t>models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5452" y="1353741"/>
            <a:ext cx="2724512" cy="136843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152293" y="3811859"/>
            <a:ext cx="3553868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GB" sz="1100" b="1" dirty="0" smtClean="0"/>
              <a:t>Conclusion: </a:t>
            </a:r>
            <a:r>
              <a:rPr lang="en-GB" sz="1100" dirty="0" smtClean="0"/>
              <a:t>SVC </a:t>
            </a:r>
            <a:r>
              <a:rPr lang="en-GB" sz="1100" dirty="0"/>
              <a:t>performs well on complex and high-dimensional datasets by maximising class separation, but its practical use is constrained by computational cost and the need for careful parameter tuning.</a:t>
            </a:r>
            <a:endParaRPr lang="en-US" sz="1100" dirty="0">
              <a:solidFill>
                <a:srgbClr val="FF000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805354" y="754489"/>
            <a:ext cx="4572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GB" sz="1200" b="1" dirty="0">
                <a:solidFill>
                  <a:srgbClr val="FF0000"/>
                </a:solidFill>
              </a:rPr>
              <a:t>Key idea: maximise the margin between classes</a:t>
            </a:r>
            <a:endParaRPr lang="en-US" sz="1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6934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9260" y="281285"/>
            <a:ext cx="7842739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b="1" dirty="0"/>
              <a:t>Perceptron (Single-Layer Perceptron Classifier)</a:t>
            </a:r>
          </a:p>
          <a:p>
            <a:pPr algn="ctr"/>
            <a:r>
              <a:rPr lang="en-GB" sz="1200" b="1" dirty="0">
                <a:solidFill>
                  <a:srgbClr val="FF0000"/>
                </a:solidFill>
              </a:rPr>
              <a:t>Key idea: learn a linear decision boundary using misclassification updates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68216" y="1079126"/>
            <a:ext cx="3188676" cy="9002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050" b="1" dirty="0"/>
              <a:t>Where We Use </a:t>
            </a:r>
            <a:r>
              <a:rPr lang="en-GB" sz="1050" b="1" dirty="0" smtClean="0"/>
              <a:t>It: </a:t>
            </a:r>
          </a:p>
          <a:p>
            <a:endParaRPr lang="en-GB" sz="1050" dirty="0" smtClean="0"/>
          </a:p>
          <a:p>
            <a:pPr marL="228600" indent="-228600">
              <a:buFont typeface="+mj-lt"/>
              <a:buAutoNum type="arabicPeriod"/>
            </a:pPr>
            <a:r>
              <a:rPr lang="en-GB" sz="1050" dirty="0" smtClean="0"/>
              <a:t>Binary </a:t>
            </a:r>
            <a:r>
              <a:rPr lang="en-GB" sz="1050" dirty="0"/>
              <a:t>classification with linearly separable </a:t>
            </a:r>
            <a:r>
              <a:rPr lang="en-GB" sz="1050" dirty="0" smtClean="0"/>
              <a:t>data</a:t>
            </a:r>
          </a:p>
          <a:p>
            <a:pPr marL="228600" indent="-228600">
              <a:buFont typeface="+mj-lt"/>
              <a:buAutoNum type="arabicPeriod"/>
            </a:pPr>
            <a:r>
              <a:rPr lang="en-GB" sz="1050" dirty="0" smtClean="0"/>
              <a:t>Baseline </a:t>
            </a:r>
            <a:r>
              <a:rPr lang="en-GB" sz="1050" dirty="0"/>
              <a:t>models and educational </a:t>
            </a:r>
            <a:r>
              <a:rPr lang="en-GB" sz="1050" dirty="0" smtClean="0"/>
              <a:t>demonstrations</a:t>
            </a:r>
          </a:p>
          <a:p>
            <a:pPr marL="228600" indent="-228600">
              <a:buFont typeface="+mj-lt"/>
              <a:buAutoNum type="arabicPeriod"/>
            </a:pPr>
            <a:r>
              <a:rPr lang="en-GB" sz="1050" dirty="0" smtClean="0"/>
              <a:t>Large </a:t>
            </a:r>
            <a:r>
              <a:rPr lang="en-GB" sz="1050" dirty="0"/>
              <a:t>datasets requiring very fast training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68216" y="2047786"/>
            <a:ext cx="4572000" cy="90024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 sz="1050" b="1" dirty="0" smtClean="0"/>
              <a:t>Advantages:</a:t>
            </a:r>
          </a:p>
          <a:p>
            <a:endParaRPr lang="en-GB" sz="1050" dirty="0"/>
          </a:p>
          <a:p>
            <a:pPr marL="228600" indent="-228600">
              <a:buFont typeface="+mj-lt"/>
              <a:buAutoNum type="arabicPeriod"/>
            </a:pPr>
            <a:r>
              <a:rPr lang="en-GB" sz="1050" dirty="0"/>
              <a:t>Simple and computationally efficient</a:t>
            </a:r>
          </a:p>
          <a:p>
            <a:pPr marL="228600" indent="-228600">
              <a:buFont typeface="+mj-lt"/>
              <a:buAutoNum type="arabicPeriod"/>
            </a:pPr>
            <a:r>
              <a:rPr lang="en-GB" sz="1050" dirty="0"/>
              <a:t>Fast convergence on linearly separable data</a:t>
            </a:r>
          </a:p>
          <a:p>
            <a:pPr marL="228600" indent="-228600">
              <a:buFont typeface="+mj-lt"/>
              <a:buAutoNum type="arabicPeriod"/>
            </a:pPr>
            <a:r>
              <a:rPr lang="en-GB" sz="1050" dirty="0"/>
              <a:t>Easy to implement and understand</a:t>
            </a:r>
          </a:p>
        </p:txBody>
      </p:sp>
      <p:sp>
        <p:nvSpPr>
          <p:cNvPr id="5" name="Rectangle 4"/>
          <p:cNvSpPr/>
          <p:nvPr/>
        </p:nvSpPr>
        <p:spPr>
          <a:xfrm>
            <a:off x="668216" y="3026594"/>
            <a:ext cx="4572000" cy="90024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 sz="1050" b="1" dirty="0" smtClean="0"/>
              <a:t>Disadvantages:</a:t>
            </a:r>
          </a:p>
          <a:p>
            <a:endParaRPr lang="en-GB" sz="1050" dirty="0"/>
          </a:p>
          <a:p>
            <a:pPr marL="228600" indent="-228600">
              <a:buFont typeface="+mj-lt"/>
              <a:buAutoNum type="arabicPeriod"/>
            </a:pPr>
            <a:r>
              <a:rPr lang="en-GB" sz="1050" dirty="0"/>
              <a:t>Works only for linearly separable problems</a:t>
            </a:r>
          </a:p>
          <a:p>
            <a:pPr marL="228600" indent="-228600">
              <a:buFont typeface="+mj-lt"/>
              <a:buAutoNum type="arabicPeriod"/>
            </a:pPr>
            <a:r>
              <a:rPr lang="en-GB" sz="1050" dirty="0"/>
              <a:t>Cannot model non-linear decision boundaries</a:t>
            </a:r>
          </a:p>
          <a:p>
            <a:pPr marL="228600" indent="-228600">
              <a:buFont typeface="+mj-lt"/>
              <a:buAutoNum type="arabicPeriod"/>
            </a:pPr>
            <a:r>
              <a:rPr lang="en-GB" sz="1050" dirty="0"/>
              <a:t>Sensitive to noisy and non-separable data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0" y="1121448"/>
            <a:ext cx="2596699" cy="197017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618891" y="3672521"/>
            <a:ext cx="3499339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GB" sz="1100" b="1" dirty="0" smtClean="0"/>
              <a:t>Conclusion: </a:t>
            </a:r>
            <a:r>
              <a:rPr lang="en-GB" sz="1100" dirty="0" smtClean="0"/>
              <a:t>The </a:t>
            </a:r>
            <a:r>
              <a:rPr lang="en-GB" sz="1100" dirty="0"/>
              <a:t>Perceptron is a simple and efficient linear classifier that serves as a strong baseline and learning tool, but its applicability is limited to linearly separable data and it cannot capture complex patterns.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5672851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44609"/>
            <a:ext cx="9144000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b="1" dirty="0"/>
              <a:t>MLPClassifier (Multi-Layer Perceptron Classifier)</a:t>
            </a:r>
          </a:p>
          <a:p>
            <a:pPr algn="ctr"/>
            <a:r>
              <a:rPr lang="en-GB" sz="1200" b="1" dirty="0">
                <a:solidFill>
                  <a:srgbClr val="FF0000"/>
                </a:solidFill>
              </a:rPr>
              <a:t>Key idea: learn complex non-linear decision boundaries using multiple neural network layers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416169" y="1046024"/>
            <a:ext cx="4572000" cy="90024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 sz="1050" dirty="0"/>
              <a:t>Where We Use </a:t>
            </a:r>
            <a:r>
              <a:rPr lang="en-GB" sz="1050" dirty="0" smtClean="0"/>
              <a:t>It: </a:t>
            </a:r>
          </a:p>
          <a:p>
            <a:endParaRPr lang="en-GB" sz="1050" dirty="0"/>
          </a:p>
          <a:p>
            <a:pPr marL="228600" indent="-228600">
              <a:buFont typeface="+mj-lt"/>
              <a:buAutoNum type="arabicPeriod"/>
            </a:pPr>
            <a:r>
              <a:rPr lang="en-GB" sz="1050" dirty="0"/>
              <a:t>Non-linear classification problems</a:t>
            </a:r>
          </a:p>
          <a:p>
            <a:pPr marL="228600" indent="-228600">
              <a:buFont typeface="+mj-lt"/>
              <a:buAutoNum type="arabicPeriod"/>
            </a:pPr>
            <a:r>
              <a:rPr lang="en-GB" sz="1050" dirty="0"/>
              <a:t>Medium-sized datasets with complex feature interactions</a:t>
            </a:r>
          </a:p>
          <a:p>
            <a:pPr marL="228600" indent="-228600">
              <a:buFont typeface="+mj-lt"/>
              <a:buAutoNum type="arabicPeriod"/>
            </a:pPr>
            <a:r>
              <a:rPr lang="en-GB" sz="1050" dirty="0"/>
              <a:t>Pattern recognition tasks (e.g. image, speech, tabular data)</a:t>
            </a:r>
          </a:p>
        </p:txBody>
      </p:sp>
      <p:sp>
        <p:nvSpPr>
          <p:cNvPr id="9" name="Rectangle 8"/>
          <p:cNvSpPr/>
          <p:nvPr/>
        </p:nvSpPr>
        <p:spPr>
          <a:xfrm>
            <a:off x="416169" y="2116617"/>
            <a:ext cx="4572000" cy="90024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 sz="1050" dirty="0" smtClean="0"/>
              <a:t>Advantages:</a:t>
            </a:r>
          </a:p>
          <a:p>
            <a:endParaRPr lang="en-GB" sz="1050" dirty="0"/>
          </a:p>
          <a:p>
            <a:pPr marL="228600" indent="-228600">
              <a:buFont typeface="+mj-lt"/>
              <a:buAutoNum type="arabicPeriod"/>
            </a:pPr>
            <a:r>
              <a:rPr lang="en-GB" sz="1050" dirty="0"/>
              <a:t>Capable of modelling complex non-linear relationships</a:t>
            </a:r>
          </a:p>
          <a:p>
            <a:pPr marL="228600" indent="-228600">
              <a:buFont typeface="+mj-lt"/>
              <a:buAutoNum type="arabicPeriod"/>
            </a:pPr>
            <a:r>
              <a:rPr lang="en-GB" sz="1050" dirty="0"/>
              <a:t>Flexible architecture (hidden layers, neurons, activations)</a:t>
            </a:r>
          </a:p>
          <a:p>
            <a:pPr marL="228600" indent="-228600">
              <a:buFont typeface="+mj-lt"/>
              <a:buAutoNum type="arabicPeriod"/>
            </a:pPr>
            <a:r>
              <a:rPr lang="en-GB" sz="1050" dirty="0"/>
              <a:t>Strong performance when properly tuned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6169" y="3271340"/>
            <a:ext cx="4572000" cy="90024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 sz="1050" dirty="0" smtClean="0"/>
              <a:t>Disadvantages:</a:t>
            </a:r>
          </a:p>
          <a:p>
            <a:endParaRPr lang="en-GB" sz="1050" dirty="0"/>
          </a:p>
          <a:p>
            <a:pPr marL="228600" indent="-228600">
              <a:buFont typeface="+mj-lt"/>
              <a:buAutoNum type="arabicPeriod"/>
            </a:pPr>
            <a:r>
              <a:rPr lang="en-GB" sz="1050" dirty="0"/>
              <a:t>Computationally expensive to train</a:t>
            </a:r>
          </a:p>
          <a:p>
            <a:pPr marL="228600" indent="-228600">
              <a:buFont typeface="+mj-lt"/>
              <a:buAutoNum type="arabicPeriod"/>
            </a:pPr>
            <a:r>
              <a:rPr lang="en-GB" sz="1050" dirty="0"/>
              <a:t>Sensitive to </a:t>
            </a:r>
            <a:r>
              <a:rPr lang="en-GB" sz="1050" dirty="0" err="1"/>
              <a:t>hyperparameter</a:t>
            </a:r>
            <a:r>
              <a:rPr lang="en-GB" sz="1050" dirty="0"/>
              <a:t> selection and initialisation</a:t>
            </a:r>
          </a:p>
          <a:p>
            <a:pPr marL="228600" indent="-228600">
              <a:buFont typeface="+mj-lt"/>
              <a:buAutoNum type="arabicPeriod"/>
            </a:pPr>
            <a:r>
              <a:rPr lang="en-GB" sz="1050" dirty="0"/>
              <a:t>Less interpretable than linear and tree-based models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2391" y="1529064"/>
            <a:ext cx="4111691" cy="136342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572000" y="4125981"/>
            <a:ext cx="4572000" cy="60016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 sz="1100" dirty="0"/>
              <a:t>Conclusion: MLPClassifier is a powerful non-linear model that can capture complex patterns in data, but it requires careful tuning, sufficient training data, and higher computational resources compared to simpler classifiers.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8434217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97465"/>
            <a:ext cx="9144000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b="1" dirty="0"/>
              <a:t>Decision Tree Classifier</a:t>
            </a:r>
          </a:p>
          <a:p>
            <a:pPr algn="ctr"/>
            <a:r>
              <a:rPr lang="en-GB" sz="1200" b="1" dirty="0">
                <a:solidFill>
                  <a:srgbClr val="FF0000"/>
                </a:solidFill>
              </a:rPr>
              <a:t>Key idea: make decisions by recursively splitting data based on feature tests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93420" y="1069747"/>
            <a:ext cx="4572000" cy="90024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 sz="1050" dirty="0"/>
              <a:t>Where We Use </a:t>
            </a:r>
            <a:r>
              <a:rPr lang="en-GB" sz="1050" dirty="0" smtClean="0"/>
              <a:t>It: </a:t>
            </a:r>
          </a:p>
          <a:p>
            <a:endParaRPr lang="en-GB" sz="1050" dirty="0"/>
          </a:p>
          <a:p>
            <a:pPr>
              <a:buFont typeface="+mj-lt"/>
              <a:buAutoNum type="arabicPeriod"/>
            </a:pPr>
            <a:r>
              <a:rPr lang="en-GB" sz="1050" dirty="0"/>
              <a:t>Classification tasks requiring model interpretability</a:t>
            </a:r>
          </a:p>
          <a:p>
            <a:pPr>
              <a:buFont typeface="+mj-lt"/>
              <a:buAutoNum type="arabicPeriod"/>
            </a:pPr>
            <a:r>
              <a:rPr lang="en-GB" sz="1050" dirty="0"/>
              <a:t>Tabular datasets with mixed feature types</a:t>
            </a:r>
          </a:p>
          <a:p>
            <a:pPr>
              <a:buFont typeface="+mj-lt"/>
              <a:buAutoNum type="arabicPeriod"/>
            </a:pPr>
            <a:r>
              <a:rPr lang="en-GB" sz="1050" dirty="0"/>
              <a:t>Problems where decision rules need to be explained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93420" y="2121627"/>
            <a:ext cx="4572000" cy="90024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 sz="1050" dirty="0" smtClean="0"/>
              <a:t>Advantages:</a:t>
            </a:r>
          </a:p>
          <a:p>
            <a:endParaRPr lang="en-GB" sz="1050" dirty="0"/>
          </a:p>
          <a:p>
            <a:pPr indent="-342900">
              <a:buFont typeface="+mj-lt"/>
              <a:buAutoNum type="arabicPeriod"/>
            </a:pPr>
            <a:r>
              <a:rPr lang="en-GB" sz="1050" dirty="0"/>
              <a:t>Easy to interpret and visualise</a:t>
            </a:r>
          </a:p>
          <a:p>
            <a:pPr indent="-342900">
              <a:buFont typeface="+mj-lt"/>
              <a:buAutoNum type="arabicPeriod"/>
            </a:pPr>
            <a:r>
              <a:rPr lang="en-GB" sz="1050" dirty="0"/>
              <a:t>Handles non-linear relationships naturally</a:t>
            </a:r>
          </a:p>
          <a:p>
            <a:pPr indent="-342900">
              <a:buFont typeface="+mj-lt"/>
              <a:buAutoNum type="arabicPeriod"/>
            </a:pPr>
            <a:r>
              <a:rPr lang="en-GB" sz="1050" dirty="0"/>
              <a:t>Requires little data </a:t>
            </a:r>
            <a:r>
              <a:rPr lang="en-GB" sz="1050" dirty="0" smtClean="0"/>
              <a:t>pre-processing.</a:t>
            </a:r>
            <a:endParaRPr lang="en-GB" sz="1050" dirty="0"/>
          </a:p>
        </p:txBody>
      </p:sp>
      <p:sp>
        <p:nvSpPr>
          <p:cNvPr id="5" name="Rectangle 4"/>
          <p:cNvSpPr/>
          <p:nvPr/>
        </p:nvSpPr>
        <p:spPr>
          <a:xfrm>
            <a:off x="693420" y="3173507"/>
            <a:ext cx="4572000" cy="90024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 sz="1050" dirty="0" smtClean="0"/>
              <a:t>Disadvantages:</a:t>
            </a:r>
          </a:p>
          <a:p>
            <a:endParaRPr lang="en-GB" sz="1050" dirty="0"/>
          </a:p>
          <a:p>
            <a:pPr indent="-342900">
              <a:buFont typeface="+mj-lt"/>
              <a:buAutoNum type="arabicPeriod"/>
            </a:pPr>
            <a:r>
              <a:rPr lang="en-GB" sz="1050" dirty="0"/>
              <a:t>Prone to overfitting, especially with deep trees</a:t>
            </a:r>
          </a:p>
          <a:p>
            <a:pPr indent="-342900">
              <a:buFont typeface="+mj-lt"/>
              <a:buAutoNum type="arabicPeriod"/>
            </a:pPr>
            <a:r>
              <a:rPr lang="en-GB" sz="1050" dirty="0"/>
              <a:t>Sensitive to small changes in the training data</a:t>
            </a:r>
          </a:p>
          <a:p>
            <a:pPr indent="-342900">
              <a:buFont typeface="+mj-lt"/>
              <a:buAutoNum type="arabicPeriod"/>
            </a:pPr>
            <a:r>
              <a:rPr lang="en-GB" sz="1050" dirty="0"/>
              <a:t>Often less accurate than ensemble methods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3580" y="1328934"/>
            <a:ext cx="2267335" cy="158538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137660" y="3840666"/>
            <a:ext cx="4572000" cy="769441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en-GB" sz="1100" dirty="0" smtClean="0"/>
              <a:t>Conclusion: Decision </a:t>
            </a:r>
            <a:r>
              <a:rPr lang="en-GB" sz="1100" dirty="0"/>
              <a:t>Trees provide transparent and intuitive decision-making models, making them ideal for interpretability-focused tasks, but their tendency to </a:t>
            </a:r>
            <a:r>
              <a:rPr lang="en-GB" sz="1100" dirty="0" err="1"/>
              <a:t>overfit</a:t>
            </a:r>
            <a:r>
              <a:rPr lang="en-GB" sz="1100" dirty="0"/>
              <a:t> often necessitates pruning or ensemble-based extensions.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9967309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96377"/>
            <a:ext cx="9144000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b="1" dirty="0"/>
              <a:t>KNN (k-Nearest Neighbours Classifier)</a:t>
            </a:r>
          </a:p>
          <a:p>
            <a:pPr algn="ctr"/>
            <a:r>
              <a:rPr lang="en-GB" sz="1200" b="1" dirty="0">
                <a:solidFill>
                  <a:srgbClr val="FF0000"/>
                </a:solidFill>
              </a:rPr>
              <a:t>Key idea: classify a sample based on the majority label of its nearest neighbours</a:t>
            </a:r>
          </a:p>
        </p:txBody>
      </p:sp>
      <p:sp>
        <p:nvSpPr>
          <p:cNvPr id="3" name="Rectangle 2"/>
          <p:cNvSpPr/>
          <p:nvPr/>
        </p:nvSpPr>
        <p:spPr>
          <a:xfrm>
            <a:off x="444137" y="904284"/>
            <a:ext cx="4572000" cy="90024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 sz="1050" dirty="0"/>
              <a:t>Where We Use </a:t>
            </a:r>
            <a:r>
              <a:rPr lang="en-GB" sz="1050" dirty="0" smtClean="0"/>
              <a:t>It:</a:t>
            </a:r>
          </a:p>
          <a:p>
            <a:endParaRPr lang="en-GB" sz="1050" dirty="0"/>
          </a:p>
          <a:p>
            <a:pPr marL="228600" indent="-228600">
              <a:buFont typeface="+mj-lt"/>
              <a:buAutoNum type="arabicPeriod"/>
            </a:pPr>
            <a:r>
              <a:rPr lang="en-GB" sz="1050" dirty="0"/>
              <a:t>Small to medium-sized datasets</a:t>
            </a:r>
          </a:p>
          <a:p>
            <a:pPr marL="228600" indent="-228600">
              <a:buFont typeface="+mj-lt"/>
              <a:buAutoNum type="arabicPeriod"/>
            </a:pPr>
            <a:r>
              <a:rPr lang="en-GB" sz="1050" dirty="0"/>
              <a:t>Problems with irregular or complex decision boundaries</a:t>
            </a:r>
          </a:p>
          <a:p>
            <a:pPr marL="228600" indent="-228600">
              <a:buFont typeface="+mj-lt"/>
              <a:buAutoNum type="arabicPeriod"/>
            </a:pPr>
            <a:r>
              <a:rPr lang="en-GB" sz="1050" dirty="0"/>
              <a:t>Baseline comparison and instance-based learning tasks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44137" y="1833086"/>
            <a:ext cx="4572000" cy="90024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 sz="1050" dirty="0" smtClean="0"/>
              <a:t>Advantages:</a:t>
            </a:r>
          </a:p>
          <a:p>
            <a:endParaRPr lang="en-GB" sz="1050" dirty="0"/>
          </a:p>
          <a:p>
            <a:pPr indent="-342900">
              <a:buFont typeface="+mj-lt"/>
              <a:buAutoNum type="arabicPeriod"/>
            </a:pPr>
            <a:r>
              <a:rPr lang="en-GB" sz="1050" dirty="0"/>
              <a:t>Simple and intuitive to understand</a:t>
            </a:r>
          </a:p>
          <a:p>
            <a:pPr indent="-342900">
              <a:buFont typeface="+mj-lt"/>
              <a:buAutoNum type="arabicPeriod"/>
            </a:pPr>
            <a:r>
              <a:rPr lang="en-GB" sz="1050" dirty="0"/>
              <a:t>No explicit training phase</a:t>
            </a:r>
          </a:p>
          <a:p>
            <a:pPr indent="-342900">
              <a:buFont typeface="+mj-lt"/>
              <a:buAutoNum type="arabicPeriod"/>
            </a:pPr>
            <a:r>
              <a:rPr lang="en-GB" sz="1050" dirty="0"/>
              <a:t>Naturally handles non-linear decision boundaries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1125" y="1157424"/>
            <a:ext cx="2420205" cy="211189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44137" y="2899991"/>
            <a:ext cx="4572000" cy="90024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 sz="1050" dirty="0" smtClean="0"/>
              <a:t>Disadvantages:</a:t>
            </a:r>
          </a:p>
          <a:p>
            <a:endParaRPr lang="en-GB" sz="1050" dirty="0"/>
          </a:p>
          <a:p>
            <a:pPr indent="-342900">
              <a:buFont typeface="+mj-lt"/>
              <a:buAutoNum type="arabicPeriod"/>
            </a:pPr>
            <a:r>
              <a:rPr lang="en-GB" sz="1050" dirty="0"/>
              <a:t>Computationally expensive at prediction time</a:t>
            </a:r>
          </a:p>
          <a:p>
            <a:pPr indent="-342900">
              <a:buFont typeface="+mj-lt"/>
              <a:buAutoNum type="arabicPeriod"/>
            </a:pPr>
            <a:r>
              <a:rPr lang="en-GB" sz="1050" dirty="0"/>
              <a:t>Sensitive to choice of k and distance metric</a:t>
            </a:r>
          </a:p>
          <a:p>
            <a:pPr indent="-342900">
              <a:buFont typeface="+mj-lt"/>
              <a:buAutoNum type="arabicPeriod"/>
            </a:pPr>
            <a:r>
              <a:rPr lang="en-GB" sz="1050" dirty="0"/>
              <a:t>Performance degrades in high-dimensional spaces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428308" y="3967215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 sz="1200" b="1" dirty="0" smtClean="0"/>
              <a:t>Conclusion: </a:t>
            </a:r>
            <a:r>
              <a:rPr lang="en-GB" sz="1200" dirty="0" smtClean="0"/>
              <a:t>KNN </a:t>
            </a:r>
            <a:r>
              <a:rPr lang="en-GB" sz="1200" dirty="0"/>
              <a:t>is an intuitive and flexible classifier that adapts well to complex data distributions, but its high prediction cost and sensitivity to parameter choices limit its scalability and robustness.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9583291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49061"/>
            <a:ext cx="9144000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b="1" dirty="0"/>
              <a:t>AdaBoost (Adaptive Boosting Classifier)</a:t>
            </a:r>
          </a:p>
          <a:p>
            <a:pPr algn="ctr"/>
            <a:r>
              <a:rPr lang="en-GB" sz="1200" b="1" dirty="0">
                <a:solidFill>
                  <a:srgbClr val="FF0000"/>
                </a:solidFill>
              </a:rPr>
              <a:t>Key idea: combine multiple weak learners by focusing sequentially on misclassified samples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83325" y="969598"/>
            <a:ext cx="4036423" cy="9002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050" b="1" dirty="0"/>
              <a:t>Where We Use It</a:t>
            </a:r>
            <a:r>
              <a:rPr lang="en-GB" sz="1050" b="1" dirty="0" smtClean="0"/>
              <a:t>:</a:t>
            </a:r>
          </a:p>
          <a:p>
            <a:endParaRPr lang="en-GB" sz="1050" b="1" dirty="0"/>
          </a:p>
          <a:p>
            <a:pPr marL="228600" indent="-228600">
              <a:buFont typeface="+mj-lt"/>
              <a:buAutoNum type="arabicPeriod"/>
            </a:pPr>
            <a:r>
              <a:rPr lang="en-GB" sz="1050" dirty="0"/>
              <a:t>Classification problems where simple models underperform</a:t>
            </a:r>
          </a:p>
          <a:p>
            <a:pPr marL="228600" indent="-228600">
              <a:buFont typeface="+mj-lt"/>
              <a:buAutoNum type="arabicPeriod"/>
            </a:pPr>
            <a:r>
              <a:rPr lang="en-GB" sz="1050" dirty="0"/>
              <a:t>Structured and tabular datasets</a:t>
            </a:r>
          </a:p>
          <a:p>
            <a:pPr marL="228600" indent="-228600">
              <a:buFont typeface="+mj-lt"/>
              <a:buAutoNum type="arabicPeriod"/>
            </a:pPr>
            <a:r>
              <a:rPr lang="en-GB" sz="1050" dirty="0"/>
              <a:t>Situations requiring improved accuracy over single classifiers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483325" y="1976777"/>
            <a:ext cx="4572000" cy="90024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 sz="1050" b="1" dirty="0" smtClean="0"/>
              <a:t>Advantages:</a:t>
            </a:r>
          </a:p>
          <a:p>
            <a:endParaRPr lang="en-GB" sz="1050" dirty="0"/>
          </a:p>
          <a:p>
            <a:pPr marL="228600" indent="-228600">
              <a:buFont typeface="+mj-lt"/>
              <a:buAutoNum type="arabicPeriod"/>
            </a:pPr>
            <a:r>
              <a:rPr lang="en-GB" sz="1050" dirty="0"/>
              <a:t>Improves performance of weak learners</a:t>
            </a:r>
          </a:p>
          <a:p>
            <a:pPr marL="228600" indent="-228600">
              <a:buFont typeface="+mj-lt"/>
              <a:buAutoNum type="arabicPeriod"/>
            </a:pPr>
            <a:r>
              <a:rPr lang="en-GB" sz="1050" dirty="0"/>
              <a:t>Reduces bias through sequential learning</a:t>
            </a:r>
          </a:p>
          <a:p>
            <a:pPr marL="228600" indent="-228600">
              <a:buFont typeface="+mj-lt"/>
              <a:buAutoNum type="arabicPeriod"/>
            </a:pPr>
            <a:r>
              <a:rPr lang="en-GB" sz="1050" dirty="0"/>
              <a:t>Often achieves high accuracy with simple base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483325" y="3163138"/>
            <a:ext cx="4572000" cy="90024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 sz="1050" b="1" dirty="0" smtClean="0"/>
              <a:t>Disadvantages:</a:t>
            </a:r>
          </a:p>
          <a:p>
            <a:endParaRPr lang="en-GB" sz="1050" dirty="0"/>
          </a:p>
          <a:p>
            <a:pPr marL="228600" indent="-228600">
              <a:buFont typeface="+mj-lt"/>
              <a:buAutoNum type="arabicPeriod"/>
            </a:pPr>
            <a:r>
              <a:rPr lang="en-GB" sz="1050" dirty="0"/>
              <a:t>Sensitive to noisy data and outliers</a:t>
            </a:r>
          </a:p>
          <a:p>
            <a:pPr marL="228600" indent="-228600">
              <a:buFont typeface="+mj-lt"/>
              <a:buAutoNum type="arabicPeriod"/>
            </a:pPr>
            <a:r>
              <a:rPr lang="en-GB" sz="1050" dirty="0"/>
              <a:t>Can </a:t>
            </a:r>
            <a:r>
              <a:rPr lang="en-GB" sz="1050" dirty="0" err="1"/>
              <a:t>overfit</a:t>
            </a:r>
            <a:r>
              <a:rPr lang="en-GB" sz="1050" dirty="0"/>
              <a:t> if too many estimators are used</a:t>
            </a:r>
          </a:p>
          <a:p>
            <a:pPr marL="228600" indent="-228600">
              <a:buFont typeface="+mj-lt"/>
              <a:buAutoNum type="arabicPeriod"/>
            </a:pPr>
            <a:r>
              <a:rPr lang="en-GB" sz="1050" dirty="0"/>
              <a:t>Training is slower than single models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5231" y="1189080"/>
            <a:ext cx="3554954" cy="197405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180114" y="3924884"/>
            <a:ext cx="4572000" cy="600164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GB" sz="1100" b="1" dirty="0" smtClean="0"/>
              <a:t>Conclusion: </a:t>
            </a:r>
            <a:r>
              <a:rPr lang="en-GB" sz="1100" dirty="0" smtClean="0"/>
              <a:t>AdaBoost </a:t>
            </a:r>
            <a:r>
              <a:rPr lang="en-GB" sz="1100" dirty="0"/>
              <a:t>is a powerful ensemble method that enhances weak classifiers by focusing on hard-to-classify samples, but its sensitivity to noise requires careful control of model complexity.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9373598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34" y="188506"/>
            <a:ext cx="9098280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b="1" dirty="0"/>
              <a:t>Random Forest Classifier</a:t>
            </a:r>
          </a:p>
          <a:p>
            <a:pPr algn="ctr"/>
            <a:r>
              <a:rPr lang="en-GB" sz="1200" b="1" dirty="0">
                <a:solidFill>
                  <a:srgbClr val="FF0000"/>
                </a:solidFill>
              </a:rPr>
              <a:t>Key idea: combine many decision trees trained on random subsets to improve robustness and accuracy</a:t>
            </a:r>
          </a:p>
        </p:txBody>
      </p:sp>
      <p:sp>
        <p:nvSpPr>
          <p:cNvPr id="3" name="Rectangle 2"/>
          <p:cNvSpPr/>
          <p:nvPr/>
        </p:nvSpPr>
        <p:spPr>
          <a:xfrm>
            <a:off x="476795" y="923878"/>
            <a:ext cx="4572000" cy="90024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 sz="1050" b="1" dirty="0"/>
              <a:t>Where We Use </a:t>
            </a:r>
            <a:r>
              <a:rPr lang="en-GB" sz="1050" b="1" dirty="0" smtClean="0"/>
              <a:t>It:</a:t>
            </a:r>
          </a:p>
          <a:p>
            <a:endParaRPr lang="en-GB" sz="1050" dirty="0"/>
          </a:p>
          <a:p>
            <a:pPr marL="685800" lvl="1" indent="-228600">
              <a:buFont typeface="+mj-lt"/>
              <a:buAutoNum type="arabicPeriod"/>
            </a:pPr>
            <a:r>
              <a:rPr lang="en-GB" sz="1050" dirty="0"/>
              <a:t>General-purpose classification problems</a:t>
            </a:r>
          </a:p>
          <a:p>
            <a:pPr marL="685800" lvl="1" indent="-228600">
              <a:buFont typeface="+mj-lt"/>
              <a:buAutoNum type="arabicPeriod"/>
            </a:pPr>
            <a:r>
              <a:rPr lang="en-GB" sz="1050" dirty="0"/>
              <a:t>Large tabular datasets with mixed feature types</a:t>
            </a:r>
          </a:p>
          <a:p>
            <a:pPr marL="685800" lvl="1" indent="-228600">
              <a:buFont typeface="+mj-lt"/>
              <a:buAutoNum type="arabicPeriod"/>
            </a:pPr>
            <a:r>
              <a:rPr lang="en-GB" sz="1050" dirty="0"/>
              <a:t>Applications requiring strong performance with minimal tuning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76795" y="2041102"/>
            <a:ext cx="4572000" cy="90024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 sz="1050" b="1" dirty="0" smtClean="0"/>
              <a:t>Advantages:</a:t>
            </a:r>
          </a:p>
          <a:p>
            <a:endParaRPr lang="en-GB" sz="1050" dirty="0"/>
          </a:p>
          <a:p>
            <a:pPr marL="685800" lvl="1" indent="-228600">
              <a:buFont typeface="+mj-lt"/>
              <a:buAutoNum type="arabicPeriod"/>
            </a:pPr>
            <a:r>
              <a:rPr lang="en-GB" sz="1050" dirty="0"/>
              <a:t>High accuracy and strong generalisation</a:t>
            </a:r>
          </a:p>
          <a:p>
            <a:pPr marL="685800" lvl="1" indent="-228600">
              <a:buFont typeface="+mj-lt"/>
              <a:buAutoNum type="arabicPeriod"/>
            </a:pPr>
            <a:r>
              <a:rPr lang="en-GB" sz="1050" dirty="0"/>
              <a:t>Reduces overfitting compared to single decision trees</a:t>
            </a:r>
          </a:p>
          <a:p>
            <a:pPr marL="685800" lvl="1" indent="-228600">
              <a:buFont typeface="+mj-lt"/>
              <a:buAutoNum type="arabicPeriod"/>
            </a:pPr>
            <a:r>
              <a:rPr lang="en-GB" sz="1050" dirty="0"/>
              <a:t>Handles non-linear relationships and feature interactions well</a:t>
            </a:r>
          </a:p>
        </p:txBody>
      </p:sp>
      <p:sp>
        <p:nvSpPr>
          <p:cNvPr id="5" name="Rectangle 4"/>
          <p:cNvSpPr/>
          <p:nvPr/>
        </p:nvSpPr>
        <p:spPr>
          <a:xfrm>
            <a:off x="476795" y="3148210"/>
            <a:ext cx="4572000" cy="90024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 sz="1050" b="1" dirty="0" smtClean="0"/>
              <a:t>Disadvantages:</a:t>
            </a:r>
          </a:p>
          <a:p>
            <a:pPr lvl="1"/>
            <a:endParaRPr lang="en-GB" sz="1050" dirty="0"/>
          </a:p>
          <a:p>
            <a:pPr marL="685800" lvl="1" indent="-228600">
              <a:buFont typeface="+mj-lt"/>
              <a:buAutoNum type="arabicPeriod"/>
            </a:pPr>
            <a:r>
              <a:rPr lang="en-GB" sz="1050" dirty="0"/>
              <a:t>Less interpretable than a single decision tree</a:t>
            </a:r>
          </a:p>
          <a:p>
            <a:pPr marL="685800" lvl="1" indent="-228600">
              <a:buFont typeface="+mj-lt"/>
              <a:buAutoNum type="arabicPeriod"/>
            </a:pPr>
            <a:r>
              <a:rPr lang="en-GB" sz="1050" dirty="0"/>
              <a:t>Larger memory and computational requirements</a:t>
            </a:r>
          </a:p>
          <a:p>
            <a:pPr marL="685800" lvl="1" indent="-228600">
              <a:buFont typeface="+mj-lt"/>
              <a:buAutoNum type="arabicPeriod"/>
            </a:pPr>
            <a:r>
              <a:rPr lang="en-GB" sz="1050" dirty="0"/>
              <a:t>Slower prediction compared to simple models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4176" y="1374001"/>
            <a:ext cx="2389864" cy="1553077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362995" y="3870597"/>
            <a:ext cx="4572000" cy="769441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en-GB" sz="1100" b="1" dirty="0" smtClean="0"/>
              <a:t>Conclusion: </a:t>
            </a:r>
            <a:r>
              <a:rPr lang="en-GB" sz="1100" dirty="0" smtClean="0"/>
              <a:t>Random </a:t>
            </a:r>
            <a:r>
              <a:rPr lang="en-GB" sz="1100" dirty="0"/>
              <a:t>Forest is a robust and reliable ensemble classifier that delivers strong performance across a wide range of problems, but this comes at the cost of reduced interpretability and increased computational complexity.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9445591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50406"/>
            <a:ext cx="9144000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b="1" dirty="0"/>
              <a:t>Gaussian Naive Bayes (Gaussian NB)</a:t>
            </a:r>
          </a:p>
          <a:p>
            <a:pPr algn="ctr"/>
            <a:r>
              <a:rPr lang="en-GB" sz="1200" b="1" dirty="0">
                <a:solidFill>
                  <a:srgbClr val="FF0000"/>
                </a:solidFill>
              </a:rPr>
              <a:t>Key idea: apply Bayes’ theorem assuming feature independence and Gaussian distributions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55172" y="871627"/>
            <a:ext cx="4572000" cy="90024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 sz="1050" dirty="0"/>
              <a:t>Where We Use </a:t>
            </a:r>
            <a:r>
              <a:rPr lang="en-GB" sz="1050" dirty="0" smtClean="0"/>
              <a:t>It:</a:t>
            </a:r>
          </a:p>
          <a:p>
            <a:endParaRPr lang="en-GB" sz="1050" dirty="0"/>
          </a:p>
          <a:p>
            <a:pPr indent="-342900">
              <a:buFont typeface="+mj-lt"/>
              <a:buAutoNum type="arabicPeriod"/>
            </a:pPr>
            <a:r>
              <a:rPr lang="en-GB" sz="1050" dirty="0"/>
              <a:t>Classification with continuous features</a:t>
            </a:r>
          </a:p>
          <a:p>
            <a:pPr indent="-342900">
              <a:buFont typeface="+mj-lt"/>
              <a:buAutoNum type="arabicPeriod"/>
            </a:pPr>
            <a:r>
              <a:rPr lang="en-GB" sz="1050" dirty="0"/>
              <a:t>High-dimensional datasets (e.g. text and document classification)</a:t>
            </a:r>
          </a:p>
          <a:p>
            <a:pPr indent="-342900">
              <a:buFont typeface="+mj-lt"/>
              <a:buAutoNum type="arabicPeriod"/>
            </a:pPr>
            <a:r>
              <a:rPr lang="en-GB" sz="1050" dirty="0"/>
              <a:t>Real-time or streaming applications due to fast training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55172" y="1971586"/>
            <a:ext cx="4572000" cy="90024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 sz="1050" dirty="0" smtClean="0"/>
              <a:t>Advantages:</a:t>
            </a:r>
          </a:p>
          <a:p>
            <a:endParaRPr lang="en-GB" sz="1050" dirty="0"/>
          </a:p>
          <a:p>
            <a:pPr indent="-342900">
              <a:buFont typeface="+mj-lt"/>
              <a:buAutoNum type="arabicPeriod"/>
            </a:pPr>
            <a:r>
              <a:rPr lang="en-GB" sz="1050" dirty="0"/>
              <a:t>Very fast training and prediction</a:t>
            </a:r>
          </a:p>
          <a:p>
            <a:pPr indent="-342900">
              <a:buFont typeface="+mj-lt"/>
              <a:buAutoNum type="arabicPeriod"/>
            </a:pPr>
            <a:r>
              <a:rPr lang="en-GB" sz="1050" dirty="0"/>
              <a:t>Works well with small datasets</a:t>
            </a:r>
          </a:p>
          <a:p>
            <a:pPr indent="-342900">
              <a:buFont typeface="+mj-lt"/>
              <a:buAutoNum type="arabicPeriod"/>
            </a:pPr>
            <a:r>
              <a:rPr lang="en-GB" sz="1050" dirty="0"/>
              <a:t>Performs well in high-dimensional spaces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55172" y="3074492"/>
            <a:ext cx="4572000" cy="90024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 sz="1050" dirty="0" smtClean="0"/>
              <a:t>Disadvantages:</a:t>
            </a:r>
          </a:p>
          <a:p>
            <a:endParaRPr lang="en-GB" sz="1050" dirty="0"/>
          </a:p>
          <a:p>
            <a:pPr lvl="1">
              <a:buFont typeface="+mj-lt"/>
              <a:buAutoNum type="arabicPeriod"/>
            </a:pPr>
            <a:r>
              <a:rPr lang="en-GB" sz="1050" dirty="0"/>
              <a:t>Strong independence assumption rarely holds in practice</a:t>
            </a:r>
          </a:p>
          <a:p>
            <a:pPr lvl="1">
              <a:buFont typeface="+mj-lt"/>
              <a:buAutoNum type="arabicPeriod"/>
            </a:pPr>
            <a:r>
              <a:rPr lang="en-GB" sz="1050" dirty="0"/>
              <a:t>Assumes Gaussian distribution of features</a:t>
            </a:r>
          </a:p>
          <a:p>
            <a:pPr lvl="1">
              <a:buFont typeface="+mj-lt"/>
              <a:buAutoNum type="arabicPeriod"/>
            </a:pPr>
            <a:r>
              <a:rPr lang="en-GB" sz="1050" dirty="0"/>
              <a:t>Limited ability to model complex feature interactions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0129" y="1718306"/>
            <a:ext cx="3175695" cy="135618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255662" y="3882832"/>
            <a:ext cx="3259183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100" b="1" dirty="0" smtClean="0"/>
              <a:t>Conclusion: </a:t>
            </a:r>
            <a:r>
              <a:rPr lang="en-GB" sz="1100" dirty="0" smtClean="0"/>
              <a:t>Gaussian </a:t>
            </a:r>
            <a:r>
              <a:rPr lang="en-GB" sz="1100" dirty="0"/>
              <a:t>Naive Bayes is a simple and efficient probabilistic classifier that performs well on high-dimensional data, but its strong assumptions limit its accuracy on complex real-world problems.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0982375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375C"/>
                </a:solidFill>
              </a:rPr>
              <a:t>Key Differences &amp; Characteristics</a:t>
            </a:r>
            <a:endParaRPr lang="en-US" sz="2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8595360" cy="367284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Algorithm</a:t>
                      </a:r>
                      <a:endParaRPr lang="en-US" sz="1100" dirty="0"/>
                    </a:p>
                  </a:txBody>
                  <a:tcPr>
                    <a:lnL w="254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7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Type / Nonlinearity</a:t>
                      </a:r>
                      <a:endParaRPr lang="en-US" sz="1100" dirty="0"/>
                    </a:p>
                  </a:txBody>
                  <a:tcPr>
                    <a:lnL w="254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7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Interpretability</a:t>
                      </a:r>
                      <a:endParaRPr lang="en-US" sz="1100" dirty="0"/>
                    </a:p>
                  </a:txBody>
                  <a:tcPr>
                    <a:lnL w="254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7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Scalability &amp; Speed</a:t>
                      </a:r>
                      <a:endParaRPr lang="en-US" sz="1100" dirty="0"/>
                    </a:p>
                  </a:txBody>
                  <a:tcPr>
                    <a:lnL w="254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7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0375C"/>
                          </a:solidFill>
                        </a:rPr>
                        <a:t>SVC</a:t>
                      </a:r>
                      <a:endParaRPr lang="en-US" sz="1100" dirty="0"/>
                    </a:p>
                  </a:txBody>
                  <a:tcPr>
                    <a:lnL w="254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</a:rPr>
                        <a:t>Kernel‑based, non‑linear</a:t>
                      </a:r>
                      <a:endParaRPr lang="en-US" sz="1100" dirty="0"/>
                    </a:p>
                  </a:txBody>
                  <a:tcPr>
                    <a:lnL w="254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</a:rPr>
                        <a:t>Low – support vectors are not directly interpretable</a:t>
                      </a:r>
                      <a:endParaRPr lang="en-US" sz="1100" dirty="0"/>
                    </a:p>
                  </a:txBody>
                  <a:tcPr>
                    <a:lnL w="254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</a:rPr>
                        <a:t>Poor scalability; training complexity O(n²)</a:t>
                      </a:r>
                      <a:endParaRPr lang="en-US" sz="1100" dirty="0"/>
                    </a:p>
                  </a:txBody>
                  <a:tcPr>
                    <a:lnL w="254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0375C"/>
                          </a:solidFill>
                        </a:rPr>
                        <a:t>Perceptron</a:t>
                      </a:r>
                      <a:endParaRPr lang="en-US" sz="1100" dirty="0"/>
                    </a:p>
                  </a:txBody>
                  <a:tcPr>
                    <a:lnL w="254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</a:rPr>
                        <a:t>Linear classifier</a:t>
                      </a:r>
                      <a:endParaRPr lang="en-US" sz="1100" dirty="0"/>
                    </a:p>
                  </a:txBody>
                  <a:tcPr>
                    <a:lnL w="254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</a:rPr>
                        <a:t>Low – weight vector interpretable but limited</a:t>
                      </a:r>
                      <a:endParaRPr lang="en-US" sz="1100" dirty="0"/>
                    </a:p>
                  </a:txBody>
                  <a:tcPr>
                    <a:lnL w="254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</a:rPr>
                        <a:t>Excellent scalability; very fast training</a:t>
                      </a:r>
                      <a:endParaRPr lang="en-US" sz="1100" dirty="0"/>
                    </a:p>
                  </a:txBody>
                  <a:tcPr>
                    <a:lnL w="254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0375C"/>
                          </a:solidFill>
                        </a:rPr>
                        <a:t>MLP</a:t>
                      </a:r>
                      <a:endParaRPr lang="en-US" sz="1100" dirty="0"/>
                    </a:p>
                  </a:txBody>
                  <a:tcPr>
                    <a:lnL w="254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</a:rPr>
                        <a:t>Deep neural network, non‑linear</a:t>
                      </a:r>
                      <a:endParaRPr lang="en-US" sz="1100" dirty="0"/>
                    </a:p>
                  </a:txBody>
                  <a:tcPr>
                    <a:lnL w="254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</a:rPr>
                        <a:t>Low – black box model</a:t>
                      </a:r>
                      <a:endParaRPr lang="en-US" sz="1100" dirty="0"/>
                    </a:p>
                  </a:txBody>
                  <a:tcPr>
                    <a:lnL w="254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</a:rPr>
                        <a:t>Slow training; computationally expensive</a:t>
                      </a:r>
                      <a:endParaRPr lang="en-US" sz="1100" dirty="0"/>
                    </a:p>
                  </a:txBody>
                  <a:tcPr>
                    <a:lnL w="254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0375C"/>
                          </a:solidFill>
                        </a:rPr>
                        <a:t>Decision Tree</a:t>
                      </a:r>
                      <a:endParaRPr lang="en-US" sz="1100" dirty="0"/>
                    </a:p>
                  </a:txBody>
                  <a:tcPr>
                    <a:lnL w="254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</a:rPr>
                        <a:t>Tree‑based, non‑linear</a:t>
                      </a:r>
                      <a:endParaRPr lang="en-US" sz="1100" dirty="0"/>
                    </a:p>
                  </a:txBody>
                  <a:tcPr>
                    <a:lnL w="254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</a:rPr>
                        <a:t>High – explicit rules and splits</a:t>
                      </a:r>
                      <a:endParaRPr lang="en-US" sz="1100" dirty="0"/>
                    </a:p>
                  </a:txBody>
                  <a:tcPr>
                    <a:lnL w="254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</a:rPr>
                        <a:t>Good training speed; sensitive to noise</a:t>
                      </a:r>
                      <a:endParaRPr lang="en-US" sz="1100" dirty="0"/>
                    </a:p>
                  </a:txBody>
                  <a:tcPr>
                    <a:lnL w="254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0375C"/>
                          </a:solidFill>
                        </a:rPr>
                        <a:t>Gaussian NB</a:t>
                      </a:r>
                      <a:endParaRPr lang="en-US" sz="1100" dirty="0"/>
                    </a:p>
                  </a:txBody>
                  <a:tcPr>
                    <a:lnL w="254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</a:rPr>
                        <a:t>Probabilistic, generative</a:t>
                      </a:r>
                      <a:endParaRPr lang="en-US" sz="1100" dirty="0"/>
                    </a:p>
                  </a:txBody>
                  <a:tcPr>
                    <a:lnL w="254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</a:rPr>
                        <a:t>Moderate – interpretable probabilities</a:t>
                      </a:r>
                      <a:endParaRPr lang="en-US" sz="1100" dirty="0"/>
                    </a:p>
                  </a:txBody>
                  <a:tcPr>
                    <a:lnL w="254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</a:rPr>
                        <a:t>Extremely fast; scales well to large data</a:t>
                      </a:r>
                      <a:endParaRPr lang="en-US" sz="1100" dirty="0"/>
                    </a:p>
                  </a:txBody>
                  <a:tcPr>
                    <a:lnL w="254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0375C"/>
                          </a:solidFill>
                        </a:rPr>
                        <a:t>KNN</a:t>
                      </a:r>
                      <a:endParaRPr lang="en-US" sz="1100" dirty="0"/>
                    </a:p>
                  </a:txBody>
                  <a:tcPr>
                    <a:lnL w="254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</a:rPr>
                        <a:t>Instance‑based, non‑linear</a:t>
                      </a:r>
                      <a:endParaRPr lang="en-US" sz="1100" dirty="0"/>
                    </a:p>
                  </a:txBody>
                  <a:tcPr>
                    <a:lnL w="254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</a:rPr>
                        <a:t>None – lazy learner</a:t>
                      </a:r>
                      <a:endParaRPr lang="en-US" sz="1100" dirty="0"/>
                    </a:p>
                  </a:txBody>
                  <a:tcPr>
                    <a:lnL w="254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</a:rPr>
                        <a:t>Trivial training but slow inference on large data</a:t>
                      </a:r>
                      <a:endParaRPr lang="en-US" sz="1100" dirty="0"/>
                    </a:p>
                  </a:txBody>
                  <a:tcPr>
                    <a:lnL w="254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0375C"/>
                          </a:solidFill>
                        </a:rPr>
                        <a:t>AdaBoost</a:t>
                      </a:r>
                      <a:endParaRPr lang="en-US" sz="1100" dirty="0"/>
                    </a:p>
                  </a:txBody>
                  <a:tcPr>
                    <a:lnL w="254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</a:rPr>
                        <a:t>Ensemble of weak learners</a:t>
                      </a:r>
                      <a:endParaRPr lang="en-US" sz="1100" dirty="0"/>
                    </a:p>
                  </a:txBody>
                  <a:tcPr>
                    <a:lnL w="254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</a:rPr>
                        <a:t>Moderate – can inspect base learners</a:t>
                      </a:r>
                      <a:endParaRPr lang="en-US" sz="1100" dirty="0"/>
                    </a:p>
                  </a:txBody>
                  <a:tcPr>
                    <a:lnL w="254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</a:rPr>
                        <a:t>Moderate training speed; sequential weighting</a:t>
                      </a:r>
                      <a:endParaRPr lang="en-US" sz="1100" dirty="0"/>
                    </a:p>
                  </a:txBody>
                  <a:tcPr>
                    <a:lnL w="254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0375C"/>
                          </a:solidFill>
                        </a:rPr>
                        <a:t>Random Forest</a:t>
                      </a:r>
                      <a:endParaRPr lang="en-US" sz="1100" dirty="0"/>
                    </a:p>
                  </a:txBody>
                  <a:tcPr>
                    <a:lnL w="254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</a:rPr>
                        <a:t>Ensemble of trees</a:t>
                      </a:r>
                      <a:endParaRPr lang="en-US" sz="1100" dirty="0"/>
                    </a:p>
                  </a:txBody>
                  <a:tcPr>
                    <a:lnL w="254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</a:rPr>
                        <a:t>Medium – aggregated decisions</a:t>
                      </a:r>
                      <a:endParaRPr lang="en-US" sz="1100" dirty="0"/>
                    </a:p>
                  </a:txBody>
                  <a:tcPr>
                    <a:lnL w="254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</a:rPr>
                        <a:t>Good scalability; parallelisable but memory heavy</a:t>
                      </a:r>
                      <a:endParaRPr lang="en-US" sz="1100" dirty="0"/>
                    </a:p>
                  </a:txBody>
                  <a:tcPr>
                    <a:lnL w="254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u="sng" dirty="0">
                <a:solidFill>
                  <a:srgbClr val="10375C"/>
                </a:solidFill>
                <a:hlinkClick r:id="rId3"/>
              </a:rPr>
              <a:t>[1]</a:t>
            </a:r>
            <a:r>
              <a:rPr lang="en-US" sz="700" dirty="0">
                <a:solidFill>
                  <a:srgbClr val="000000"/>
                </a:solidFill>
              </a:rPr>
              <a:t>   </a:t>
            </a:r>
            <a:r>
              <a:rPr lang="en-US" sz="700" u="sng" dirty="0">
                <a:solidFill>
                  <a:srgbClr val="10375C"/>
                </a:solidFill>
                <a:hlinkClick r:id="rId4"/>
              </a:rPr>
              <a:t>[2]</a:t>
            </a:r>
            <a:r>
              <a:rPr lang="en-US" sz="700" dirty="0">
                <a:solidFill>
                  <a:srgbClr val="000000"/>
                </a:solidFill>
              </a:rPr>
              <a:t>   </a:t>
            </a:r>
            <a:r>
              <a:rPr lang="en-US" sz="700" u="sng" dirty="0">
                <a:solidFill>
                  <a:srgbClr val="10375C"/>
                </a:solidFill>
                <a:hlinkClick r:id="rId5"/>
              </a:rPr>
              <a:t>[3]</a:t>
            </a:r>
            <a:r>
              <a:rPr lang="en-US" sz="700" dirty="0">
                <a:solidFill>
                  <a:srgbClr val="000000"/>
                </a:solidFill>
              </a:rPr>
              <a:t>   </a:t>
            </a:r>
            <a:r>
              <a:rPr lang="en-US" sz="700" u="sng" dirty="0">
                <a:solidFill>
                  <a:srgbClr val="10375C"/>
                </a:solidFill>
                <a:hlinkClick r:id="rId6"/>
              </a:rPr>
              <a:t>[4]</a:t>
            </a:r>
            <a:r>
              <a:rPr lang="en-US" sz="700" dirty="0">
                <a:solidFill>
                  <a:srgbClr val="000000"/>
                </a:solidFill>
              </a:rPr>
              <a:t>   </a:t>
            </a:r>
            <a:r>
              <a:rPr lang="en-US" sz="700" u="sng" dirty="0">
                <a:solidFill>
                  <a:srgbClr val="10375C"/>
                </a:solidFill>
                <a:hlinkClick r:id="rId7"/>
              </a:rPr>
              <a:t>[5]</a:t>
            </a:r>
            <a:r>
              <a:rPr lang="en-US" sz="700" dirty="0">
                <a:solidFill>
                  <a:srgbClr val="000000"/>
                </a:solidFill>
              </a:rPr>
              <a:t>   </a:t>
            </a:r>
            <a:r>
              <a:rPr lang="en-US" sz="700" u="sng" dirty="0">
                <a:solidFill>
                  <a:srgbClr val="10375C"/>
                </a:solidFill>
                <a:hlinkClick r:id="rId8"/>
              </a:rPr>
              <a:t>[6]</a:t>
            </a:r>
            <a:r>
              <a:rPr lang="en-US" sz="700" dirty="0">
                <a:solidFill>
                  <a:srgbClr val="000000"/>
                </a:solidFill>
              </a:rPr>
              <a:t>   </a:t>
            </a:r>
            <a:r>
              <a:rPr lang="en-US" sz="700" u="sng" dirty="0">
                <a:solidFill>
                  <a:srgbClr val="10375C"/>
                </a:solidFill>
                <a:hlinkClick r:id="rId9"/>
              </a:rPr>
              <a:t>[7]</a:t>
            </a:r>
            <a:r>
              <a:rPr lang="en-US" sz="700" dirty="0">
                <a:solidFill>
                  <a:srgbClr val="000000"/>
                </a:solidFill>
              </a:rPr>
              <a:t>   </a:t>
            </a:r>
            <a:r>
              <a:rPr lang="en-US" sz="700" u="sng" dirty="0">
                <a:solidFill>
                  <a:srgbClr val="10375C"/>
                </a:solidFill>
                <a:hlinkClick r:id="rId10"/>
              </a:rPr>
              <a:t>[8]</a:t>
            </a:r>
            <a:r>
              <a:rPr lang="en-US" sz="700" dirty="0">
                <a:solidFill>
                  <a:srgbClr val="000000"/>
                </a:solidFill>
              </a:rPr>
              <a:t>   </a:t>
            </a:r>
            <a:r>
              <a:rPr lang="en-US" sz="700" u="sng" dirty="0">
                <a:solidFill>
                  <a:srgbClr val="10375C"/>
                </a:solidFill>
                <a:hlinkClick r:id="rId11"/>
              </a:rPr>
              <a:t>[9]</a:t>
            </a:r>
            <a:r>
              <a:rPr lang="en-US" sz="700" dirty="0">
                <a:solidFill>
                  <a:srgbClr val="000000"/>
                </a:solidFill>
              </a:rPr>
              <a:t>   </a:t>
            </a:r>
            <a:r>
              <a:rPr lang="en-US" sz="700" u="sng" dirty="0">
                <a:solidFill>
                  <a:srgbClr val="10375C"/>
                </a:solidFill>
                <a:hlinkClick r:id="rId12"/>
              </a:rPr>
              <a:t>[10]</a:t>
            </a:r>
            <a:r>
              <a:rPr lang="en-US" sz="700" dirty="0">
                <a:solidFill>
                  <a:srgbClr val="000000"/>
                </a:solidFill>
              </a:rPr>
              <a:t>   </a:t>
            </a:r>
            <a:r>
              <a:rPr lang="en-US" sz="700" u="sng" dirty="0">
                <a:solidFill>
                  <a:srgbClr val="10375C"/>
                </a:solidFill>
                <a:hlinkClick r:id="rId13"/>
              </a:rPr>
              <a:t>[11]</a:t>
            </a:r>
            <a:r>
              <a:rPr lang="en-US" sz="700" dirty="0">
                <a:solidFill>
                  <a:srgbClr val="000000"/>
                </a:solidFill>
              </a:rPr>
              <a:t>   </a:t>
            </a:r>
            <a:r>
              <a:rPr lang="en-US" sz="700" u="sng" dirty="0">
                <a:solidFill>
                  <a:srgbClr val="10375C"/>
                </a:solidFill>
                <a:hlinkClick r:id="rId14"/>
              </a:rPr>
              <a:t>[12]</a:t>
            </a:r>
            <a:r>
              <a:rPr lang="en-US" sz="700" dirty="0">
                <a:solidFill>
                  <a:srgbClr val="000000"/>
                </a:solidFill>
              </a:rPr>
              <a:t>   </a:t>
            </a:r>
            <a:r>
              <a:rPr lang="en-US" sz="700" u="sng" dirty="0">
                <a:solidFill>
                  <a:srgbClr val="10375C"/>
                </a:solidFill>
                <a:hlinkClick r:id="rId15"/>
              </a:rPr>
              <a:t>[13]</a:t>
            </a:r>
            <a:r>
              <a:rPr lang="en-US" sz="700" dirty="0">
                <a:solidFill>
                  <a:srgbClr val="000000"/>
                </a:solidFill>
              </a:rPr>
              <a:t>   </a:t>
            </a:r>
            <a:r>
              <a:rPr lang="en-US" sz="700" u="sng" dirty="0">
                <a:solidFill>
                  <a:srgbClr val="10375C"/>
                </a:solidFill>
                <a:hlinkClick r:id="rId16"/>
              </a:rPr>
              <a:t>[14]</a:t>
            </a:r>
            <a:endParaRPr lang="en-US" sz="7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20040"/>
            <a:ext cx="41148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2743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0375C"/>
                </a:solidFill>
              </a:rPr>
              <a:t>When to Use Which Model?</a:t>
            </a:r>
            <a:endParaRPr lang="en-US" sz="2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686800" cy="1371600"/>
        </p:xfrm>
        <a:graphic>
          <a:graphicData uri="http://schemas.openxmlformats.org/drawingml/2006/table">
            <a:tbl>
              <a:tblPr/>
              <a:tblGrid>
                <a:gridCol w="434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Scenario</a:t>
                      </a:r>
                      <a:endParaRPr lang="en-US" sz="1200" dirty="0"/>
                    </a:p>
                  </a:txBody>
                  <a:tcPr>
                    <a:lnL w="254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7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Recommended Models</a:t>
                      </a:r>
                      <a:endParaRPr lang="en-US" sz="1200" dirty="0"/>
                    </a:p>
                  </a:txBody>
                  <a:tcPr>
                    <a:lnL w="254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7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</a:rPr>
                        <a:t>Linearly separable or streaming tasks</a:t>
                      </a:r>
                      <a:endParaRPr lang="en-US" sz="1200" dirty="0"/>
                    </a:p>
                  </a:txBody>
                  <a:tcPr>
                    <a:lnL w="254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70AD47"/>
                          </a:solidFill>
                        </a:rPr>
                        <a:t>Perceptron, Gaussian NB</a:t>
                      </a:r>
                      <a:endParaRPr lang="en-US" sz="1200" dirty="0"/>
                    </a:p>
                  </a:txBody>
                  <a:tcPr>
                    <a:lnL w="254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</a:rPr>
                        <a:t>High‑dimensional &amp; non‑linear patterns</a:t>
                      </a:r>
                      <a:endParaRPr lang="en-US" sz="1200" dirty="0"/>
                    </a:p>
                  </a:txBody>
                  <a:tcPr>
                    <a:lnL w="254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70AD47"/>
                          </a:solidFill>
                        </a:rPr>
                        <a:t>SVC, MLP, Random Forest</a:t>
                      </a:r>
                      <a:endParaRPr lang="en-US" sz="1200" dirty="0"/>
                    </a:p>
                  </a:txBody>
                  <a:tcPr>
                    <a:lnL w="254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</a:rPr>
                        <a:t>Require explainable decisions</a:t>
                      </a:r>
                      <a:endParaRPr lang="en-US" sz="1200" dirty="0"/>
                    </a:p>
                  </a:txBody>
                  <a:tcPr>
                    <a:lnL w="254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70AD47"/>
                          </a:solidFill>
                        </a:rPr>
                        <a:t>Decision Tree, Random Forest</a:t>
                      </a:r>
                      <a:endParaRPr lang="en-US" sz="1200" dirty="0"/>
                    </a:p>
                  </a:txBody>
                  <a:tcPr>
                    <a:lnL w="254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</a:rPr>
                        <a:t>Limited computational resources</a:t>
                      </a:r>
                      <a:endParaRPr lang="en-US" sz="1200" dirty="0"/>
                    </a:p>
                  </a:txBody>
                  <a:tcPr>
                    <a:lnL w="254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70AD47"/>
                          </a:solidFill>
                        </a:rPr>
                        <a:t>Gaussian NB, Perceptron, KNN</a:t>
                      </a:r>
                      <a:endParaRPr lang="en-US" sz="1200" dirty="0"/>
                    </a:p>
                  </a:txBody>
                  <a:tcPr>
                    <a:lnL w="254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1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u="sng" dirty="0">
                <a:solidFill>
                  <a:srgbClr val="10375C"/>
                </a:solidFill>
                <a:hlinkClick r:id="rId4"/>
              </a:rPr>
              <a:t>[4]</a:t>
            </a:r>
            <a:r>
              <a:rPr lang="en-US" sz="700" dirty="0">
                <a:solidFill>
                  <a:srgbClr val="000000"/>
                </a:solidFill>
              </a:rPr>
              <a:t>   </a:t>
            </a:r>
            <a:r>
              <a:rPr lang="en-US" sz="700" u="sng" dirty="0">
                <a:solidFill>
                  <a:srgbClr val="10375C"/>
                </a:solidFill>
                <a:hlinkClick r:id="rId5"/>
              </a:rPr>
              <a:t>[5]</a:t>
            </a:r>
            <a:r>
              <a:rPr lang="en-US" sz="700" dirty="0">
                <a:solidFill>
                  <a:srgbClr val="000000"/>
                </a:solidFill>
              </a:rPr>
              <a:t>   </a:t>
            </a:r>
            <a:r>
              <a:rPr lang="en-US" sz="700" u="sng" dirty="0">
                <a:solidFill>
                  <a:srgbClr val="10375C"/>
                </a:solidFill>
                <a:hlinkClick r:id="rId6"/>
              </a:rPr>
              <a:t>[6]</a:t>
            </a:r>
            <a:r>
              <a:rPr lang="en-US" sz="700" dirty="0">
                <a:solidFill>
                  <a:srgbClr val="000000"/>
                </a:solidFill>
              </a:rPr>
              <a:t>   </a:t>
            </a:r>
            <a:r>
              <a:rPr lang="en-US" sz="700" u="sng" dirty="0">
                <a:solidFill>
                  <a:srgbClr val="10375C"/>
                </a:solidFill>
                <a:hlinkClick r:id="rId7"/>
              </a:rPr>
              <a:t>[7]</a:t>
            </a:r>
            <a:r>
              <a:rPr lang="en-US" sz="700" dirty="0">
                <a:solidFill>
                  <a:srgbClr val="000000"/>
                </a:solidFill>
              </a:rPr>
              <a:t>   </a:t>
            </a:r>
            <a:r>
              <a:rPr lang="en-US" sz="700" u="sng" dirty="0">
                <a:solidFill>
                  <a:srgbClr val="10375C"/>
                </a:solidFill>
                <a:hlinkClick r:id="rId8"/>
              </a:rPr>
              <a:t>[8]</a:t>
            </a:r>
            <a:r>
              <a:rPr lang="en-US" sz="700" dirty="0">
                <a:solidFill>
                  <a:srgbClr val="000000"/>
                </a:solidFill>
              </a:rPr>
              <a:t>   </a:t>
            </a:r>
            <a:r>
              <a:rPr lang="en-US" sz="700" u="sng" dirty="0">
                <a:solidFill>
                  <a:srgbClr val="10375C"/>
                </a:solidFill>
                <a:hlinkClick r:id="rId9"/>
              </a:rPr>
              <a:t>[9]</a:t>
            </a:r>
            <a:r>
              <a:rPr lang="en-US" sz="700" dirty="0">
                <a:solidFill>
                  <a:srgbClr val="000000"/>
                </a:solidFill>
              </a:rPr>
              <a:t>   </a:t>
            </a:r>
            <a:r>
              <a:rPr lang="en-US" sz="700" u="sng" dirty="0">
                <a:solidFill>
                  <a:srgbClr val="10375C"/>
                </a:solidFill>
                <a:hlinkClick r:id="rId10"/>
              </a:rPr>
              <a:t>[10]</a:t>
            </a:r>
            <a:r>
              <a:rPr lang="en-US" sz="700" dirty="0">
                <a:solidFill>
                  <a:srgbClr val="000000"/>
                </a:solidFill>
              </a:rPr>
              <a:t>   </a:t>
            </a:r>
            <a:r>
              <a:rPr lang="en-US" sz="700" u="sng" dirty="0">
                <a:solidFill>
                  <a:srgbClr val="10375C"/>
                </a:solidFill>
                <a:hlinkClick r:id="rId11"/>
              </a:rPr>
              <a:t>[11]</a:t>
            </a:r>
            <a:r>
              <a:rPr lang="en-US" sz="700" dirty="0">
                <a:solidFill>
                  <a:srgbClr val="000000"/>
                </a:solidFill>
              </a:rPr>
              <a:t>   </a:t>
            </a:r>
            <a:r>
              <a:rPr lang="en-US" sz="700" u="sng" dirty="0">
                <a:solidFill>
                  <a:srgbClr val="10375C"/>
                </a:solidFill>
                <a:hlinkClick r:id="rId12"/>
              </a:rPr>
              <a:t>[12]</a:t>
            </a:r>
            <a:r>
              <a:rPr lang="en-US" sz="700" dirty="0">
                <a:solidFill>
                  <a:srgbClr val="000000"/>
                </a:solidFill>
              </a:rPr>
              <a:t>   </a:t>
            </a:r>
            <a:r>
              <a:rPr lang="en-US" sz="700" u="sng" dirty="0">
                <a:solidFill>
                  <a:srgbClr val="10375C"/>
                </a:solidFill>
                <a:hlinkClick r:id="rId13"/>
              </a:rPr>
              <a:t>[13]</a:t>
            </a:r>
            <a:r>
              <a:rPr lang="en-US" sz="700" dirty="0">
                <a:solidFill>
                  <a:srgbClr val="000000"/>
                </a:solidFill>
              </a:rPr>
              <a:t>   </a:t>
            </a:r>
            <a:r>
              <a:rPr lang="en-US" sz="700" u="sng" dirty="0">
                <a:solidFill>
                  <a:srgbClr val="10375C"/>
                </a:solidFill>
                <a:hlinkClick r:id="rId14"/>
              </a:rPr>
              <a:t>[14]</a:t>
            </a:r>
            <a:endParaRPr lang="en-US" sz="7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</TotalTime>
  <Words>1456</Words>
  <Application>Microsoft Office PowerPoint</Application>
  <PresentationFormat>On-screen Show (16:9)</PresentationFormat>
  <Paragraphs>229</Paragraphs>
  <Slides>13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Ghulam Mustafa</cp:lastModifiedBy>
  <cp:revision>10</cp:revision>
  <dcterms:created xsi:type="dcterms:W3CDTF">2025-12-16T23:42:23Z</dcterms:created>
  <dcterms:modified xsi:type="dcterms:W3CDTF">2025-12-17T15:30:34Z</dcterms:modified>
</cp:coreProperties>
</file>