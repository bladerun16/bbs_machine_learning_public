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6" r:id="rId6"/>
    <p:sldId id="262" r:id="rId7"/>
    <p:sldId id="264" r:id="rId8"/>
    <p:sldId id="263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2AE8-B67C-4989-91AF-C186F21782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2137-8CCD-473C-8FD4-D889EBD5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42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2AE8-B67C-4989-91AF-C186F21782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2137-8CCD-473C-8FD4-D889EBD5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0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2AE8-B67C-4989-91AF-C186F21782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2137-8CCD-473C-8FD4-D889EBD5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3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2AE8-B67C-4989-91AF-C186F21782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2137-8CCD-473C-8FD4-D889EBD5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10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2AE8-B67C-4989-91AF-C186F21782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2137-8CCD-473C-8FD4-D889EBD5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1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2AE8-B67C-4989-91AF-C186F21782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2137-8CCD-473C-8FD4-D889EBD5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47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2AE8-B67C-4989-91AF-C186F21782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2137-8CCD-473C-8FD4-D889EBD5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20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2AE8-B67C-4989-91AF-C186F21782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2137-8CCD-473C-8FD4-D889EBD5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2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2AE8-B67C-4989-91AF-C186F21782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2137-8CCD-473C-8FD4-D889EBD5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5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2AE8-B67C-4989-91AF-C186F21782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2137-8CCD-473C-8FD4-D889EBD5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68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2AE8-B67C-4989-91AF-C186F21782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2137-8CCD-473C-8FD4-D889EBD5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48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C2AE8-B67C-4989-91AF-C186F21782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32137-8CCD-473C-8FD4-D889EBD5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0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2552368"/>
            <a:ext cx="9144000" cy="532738"/>
          </a:xfrm>
        </p:spPr>
        <p:txBody>
          <a:bodyPr>
            <a:normAutofit/>
          </a:bodyPr>
          <a:lstStyle/>
          <a:p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 &amp; Recall in Machine Learning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3238" y="3594087"/>
            <a:ext cx="4105523" cy="1655762"/>
          </a:xfrm>
        </p:spPr>
        <p:txBody>
          <a:bodyPr>
            <a:normAutofit/>
          </a:bodyPr>
          <a:lstStyle/>
          <a:p>
            <a:r>
              <a:rPr lang="en-US" sz="1400" b="1" dirty="0" smtClean="0"/>
              <a:t>Understanding Classification Performance Metrics</a:t>
            </a:r>
          </a:p>
          <a:p>
            <a:endParaRPr lang="en-US" sz="1400" b="1" dirty="0"/>
          </a:p>
          <a:p>
            <a:r>
              <a:rPr lang="en-GB" sz="1400" b="1" dirty="0"/>
              <a:t>Spam Detection Example | Binary Classification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5846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4055"/>
            <a:ext cx="10515600" cy="490041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GB" sz="2800" b="1" dirty="0" smtClean="0"/>
              <a:t>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WE NEED EVALUATION METRICS?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528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b="1" dirty="0"/>
              <a:t>Key Points: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Classification models predict labels (Spam / Not-Spam).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Predictions can be correct or wrong.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Different mistakes have different costs.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Metrics help us measure model quality objectively</a:t>
            </a:r>
            <a:r>
              <a:rPr lang="en-GB" sz="1200" dirty="0" smtClean="0"/>
              <a:t>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19322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0000"/>
            <a:ext cx="10515600" cy="505944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ACCURACY?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GB" sz="1200" dirty="0" smtClean="0"/>
              <a:t>Accuracy measures how often a classification model is correct overall.</a:t>
            </a:r>
          </a:p>
          <a:p>
            <a:pPr marL="0" indent="0">
              <a:buNone/>
            </a:pPr>
            <a:r>
              <a:rPr lang="en-GB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</a:t>
            </a: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How often is the model right?</a:t>
            </a:r>
          </a:p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GB" sz="1200" b="1" dirty="0" smtClean="0"/>
          </a:p>
          <a:p>
            <a:pPr marL="0" indent="0">
              <a:buNone/>
            </a:pPr>
            <a:r>
              <a:rPr lang="en-GB" sz="1200" b="1" dirty="0" smtClean="0"/>
              <a:t>Interpretation:</a:t>
            </a:r>
            <a:endParaRPr lang="en-GB" sz="1200" dirty="0" smtClean="0"/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Counts all correct predictions.</a:t>
            </a:r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Treats all errors equally.</a:t>
            </a:r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Does not distinguish error types.</a:t>
            </a:r>
            <a:endParaRPr lang="en-GB" sz="1200" dirty="0" smtClean="0"/>
          </a:p>
          <a:p>
            <a:endParaRPr lang="en-GB" sz="1200" b="1" dirty="0" smtClean="0"/>
          </a:p>
          <a:p>
            <a:pPr marL="0" indent="0">
              <a:buNone/>
            </a:pP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837" y="3117758"/>
            <a:ext cx="1902326" cy="80085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351722" y="4802645"/>
            <a:ext cx="36289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b="1" dirty="0" smtClean="0">
                <a:solidFill>
                  <a:srgbClr val="FF0000"/>
                </a:solidFill>
              </a:rPr>
              <a:t>Accuracy looks simple, but it does not tell us </a:t>
            </a:r>
            <a:r>
              <a:rPr lang="en-GB" sz="1200" b="1" i="1" dirty="0" smtClean="0">
                <a:solidFill>
                  <a:srgbClr val="FF0000"/>
                </a:solidFill>
              </a:rPr>
              <a:t>which mistakes</a:t>
            </a:r>
            <a:r>
              <a:rPr lang="en-GB" sz="1200" b="1" dirty="0" smtClean="0">
                <a:solidFill>
                  <a:srgbClr val="FF0000"/>
                </a:solidFill>
              </a:rPr>
              <a:t> the model makes.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2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0000"/>
            <a:ext cx="10515600" cy="50594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— EXAMPLE &amp; ACCURACY PARADOX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dirty="0"/>
              <a:t>Example: </a:t>
            </a:r>
            <a:r>
              <a:rPr lang="en-GB" sz="1200" b="1" dirty="0"/>
              <a:t>Accuracy Calculation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Total emails = 60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Correct predictions = 52</a:t>
            </a:r>
          </a:p>
          <a:p>
            <a:pPr marL="0" indent="0">
              <a:buNone/>
            </a:pPr>
            <a:r>
              <a:rPr lang="en-GB" sz="1200" dirty="0" smtClean="0">
                <a:solidFill>
                  <a:srgbClr val="00B050"/>
                </a:solidFill>
              </a:rPr>
              <a:t>✅ </a:t>
            </a:r>
            <a:r>
              <a:rPr lang="en-GB" sz="1200" dirty="0" smtClean="0"/>
              <a:t>The model appears to perform well.</a:t>
            </a:r>
          </a:p>
          <a:p>
            <a:pPr marL="0" indent="0">
              <a:buNone/>
            </a:pPr>
            <a:r>
              <a:rPr lang="en-GB" sz="1200" b="1" dirty="0" smtClean="0"/>
              <a:t>Accuracy </a:t>
            </a:r>
            <a:r>
              <a:rPr lang="en-GB" sz="1200" b="1" dirty="0"/>
              <a:t>Paradox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Many real-world datasets are imbalanced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One class occurs much more frequently than the other</a:t>
            </a:r>
          </a:p>
          <a:p>
            <a:pPr marL="0" indent="0">
              <a:buNone/>
            </a:pPr>
            <a:r>
              <a:rPr lang="en-GB" sz="1200" dirty="0"/>
              <a:t>Example:</a:t>
            </a:r>
          </a:p>
          <a:p>
            <a:r>
              <a:rPr lang="en-GB" sz="1200" dirty="0"/>
              <a:t>Only 3 spam emails out of 60</a:t>
            </a:r>
          </a:p>
          <a:p>
            <a:r>
              <a:rPr lang="en-GB" sz="1200" dirty="0" smtClean="0"/>
              <a:t>If the model predicts everything as Not Spam:</a:t>
            </a:r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Correct </a:t>
            </a:r>
            <a:r>
              <a:rPr lang="en-GB" sz="1200" dirty="0"/>
              <a:t>predictions = 57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Accuracy = 95%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Spam detected = 0</a:t>
            </a:r>
          </a:p>
          <a:p>
            <a:r>
              <a:rPr lang="en-GB" sz="1200" dirty="0"/>
              <a:t>❌ </a:t>
            </a:r>
            <a:r>
              <a:rPr lang="en-GB" sz="1200" b="1" dirty="0">
                <a:solidFill>
                  <a:srgbClr val="FF0000"/>
                </a:solidFill>
              </a:rPr>
              <a:t>High accuracy, but completely useless model</a:t>
            </a:r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7" name="Rectangle 6"/>
          <p:cNvSpPr/>
          <p:nvPr/>
        </p:nvSpPr>
        <p:spPr>
          <a:xfrm>
            <a:off x="4499033" y="4540196"/>
            <a:ext cx="1741335" cy="12630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rgbClr val="FF0000"/>
                </a:solidFill>
              </a:rPr>
              <a:t>Key Takeaway (IMPORTANT)</a:t>
            </a:r>
          </a:p>
          <a:p>
            <a:pPr algn="ctr"/>
            <a:r>
              <a:rPr lang="en-GB" sz="1200" b="1" dirty="0" smtClean="0">
                <a:solidFill>
                  <a:srgbClr val="FF0000"/>
                </a:solidFill>
              </a:rPr>
              <a:t>High accuracy does NOT guarantee a good model.</a:t>
            </a:r>
          </a:p>
          <a:p>
            <a:pPr algn="ctr"/>
            <a:endParaRPr lang="en-US" sz="1200" b="1" dirty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828" y="1825625"/>
            <a:ext cx="3737518" cy="219267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820" y="3962643"/>
            <a:ext cx="3391627" cy="184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95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0000"/>
            <a:ext cx="10515600" cy="50594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7518085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1200" b="1" dirty="0" smtClean="0"/>
              <a:t>What is a Confusion Matrix?</a:t>
            </a:r>
            <a:r>
              <a:rPr lang="en-GB" sz="1200" dirty="0" smtClean="0"/>
              <a:t> A confusion matrix summarises how a classification model makes predictions by comparing:</a:t>
            </a:r>
          </a:p>
          <a:p>
            <a:pPr lvl="1" algn="just">
              <a:buFont typeface="+mj-lt"/>
              <a:buAutoNum type="arabicPeriod"/>
            </a:pPr>
            <a:r>
              <a:rPr lang="en-GB" sz="1200" b="1" dirty="0" smtClean="0"/>
              <a:t>Actual classes</a:t>
            </a:r>
            <a:r>
              <a:rPr lang="en-GB" sz="1200" dirty="0" smtClean="0"/>
              <a:t> (ground truth)</a:t>
            </a:r>
          </a:p>
          <a:p>
            <a:pPr lvl="1" algn="just">
              <a:buFont typeface="+mj-lt"/>
              <a:buAutoNum type="arabicPeriod"/>
            </a:pPr>
            <a:r>
              <a:rPr lang="en-GB" sz="1200" b="1" dirty="0" smtClean="0"/>
              <a:t>Predicted classes</a:t>
            </a:r>
            <a:endParaRPr lang="en-GB" sz="1200" dirty="0" smtClean="0"/>
          </a:p>
          <a:p>
            <a:pPr marL="0" indent="0" algn="just">
              <a:buNone/>
            </a:pPr>
            <a:r>
              <a:rPr lang="en-GB" sz="1200" dirty="0" smtClean="0"/>
              <a:t>It shows </a:t>
            </a:r>
            <a:r>
              <a:rPr lang="en-GB" sz="1200" b="1" dirty="0" smtClean="0"/>
              <a:t>four key outcomes</a:t>
            </a:r>
            <a:r>
              <a:rPr lang="en-GB" sz="1200" dirty="0" smtClean="0"/>
              <a:t>:</a:t>
            </a:r>
          </a:p>
          <a:p>
            <a:pPr marL="0" indent="0" algn="just">
              <a:buNone/>
            </a:pPr>
            <a:r>
              <a:rPr lang="en-US" sz="1200" b="1" dirty="0" smtClean="0"/>
              <a:t>The Four Possible Outcomes (Confusion Matrix)</a:t>
            </a:r>
          </a:p>
          <a:p>
            <a:pPr lvl="1" algn="just">
              <a:buFont typeface="+mj-lt"/>
              <a:buAutoNum type="arabicPeriod"/>
            </a:pPr>
            <a:r>
              <a:rPr lang="en-US" sz="1200" b="1" dirty="0" smtClean="0"/>
              <a:t>True Positive (TP):</a:t>
            </a:r>
            <a:r>
              <a:rPr lang="en-US" sz="1200" dirty="0"/>
              <a:t> </a:t>
            </a:r>
            <a:r>
              <a:rPr lang="en-US" sz="1200" dirty="0" smtClean="0"/>
              <a:t>Model predicts </a:t>
            </a:r>
            <a:r>
              <a:rPr lang="en-US" sz="1200" i="1" dirty="0" smtClean="0"/>
              <a:t>Spam</a:t>
            </a:r>
            <a:r>
              <a:rPr lang="en-US" sz="1200" dirty="0" smtClean="0"/>
              <a:t> → Email is </a:t>
            </a:r>
            <a:r>
              <a:rPr lang="en-US" sz="1200" i="1" dirty="0" smtClean="0"/>
              <a:t>really Spam</a:t>
            </a:r>
          </a:p>
          <a:p>
            <a:pPr lvl="1" algn="just">
              <a:buFont typeface="+mj-lt"/>
              <a:buAutoNum type="arabicPeriod"/>
            </a:pPr>
            <a:r>
              <a:rPr lang="en-US" sz="1200" b="1" dirty="0" smtClean="0"/>
              <a:t>False Positive (FP):</a:t>
            </a:r>
            <a:r>
              <a:rPr lang="en-US" sz="1200" dirty="0"/>
              <a:t> </a:t>
            </a:r>
            <a:r>
              <a:rPr lang="en-US" sz="1200" dirty="0" smtClean="0"/>
              <a:t>Model predicts </a:t>
            </a:r>
            <a:r>
              <a:rPr lang="en-US" sz="1200" i="1" dirty="0" smtClean="0"/>
              <a:t>Spam</a:t>
            </a:r>
            <a:r>
              <a:rPr lang="en-US" sz="1200" dirty="0" smtClean="0"/>
              <a:t> → Email is </a:t>
            </a:r>
            <a:r>
              <a:rPr lang="en-US" sz="1200" i="1" dirty="0" smtClean="0"/>
              <a:t>NOT Spam </a:t>
            </a:r>
            <a:r>
              <a:rPr lang="en-US" sz="1200" dirty="0" smtClean="0"/>
              <a:t>➝ </a:t>
            </a:r>
            <a:r>
              <a:rPr lang="en-US" sz="1200" i="1" dirty="0" smtClean="0"/>
              <a:t>False alarm</a:t>
            </a:r>
          </a:p>
          <a:p>
            <a:pPr lvl="1" algn="just">
              <a:buFont typeface="+mj-lt"/>
              <a:buAutoNum type="arabicPeriod"/>
            </a:pPr>
            <a:r>
              <a:rPr lang="en-US" sz="1200" b="1" dirty="0" smtClean="0"/>
              <a:t>True Negative (TN):</a:t>
            </a:r>
            <a:r>
              <a:rPr lang="en-US" sz="1200" dirty="0"/>
              <a:t> </a:t>
            </a:r>
            <a:r>
              <a:rPr lang="en-US" sz="1200" dirty="0" smtClean="0"/>
              <a:t>Model predicts </a:t>
            </a:r>
            <a:r>
              <a:rPr lang="en-US" sz="1200" i="1" dirty="0" smtClean="0"/>
              <a:t>Not Spam</a:t>
            </a:r>
            <a:r>
              <a:rPr lang="en-US" sz="1200" dirty="0" smtClean="0"/>
              <a:t> → Email is </a:t>
            </a:r>
            <a:r>
              <a:rPr lang="en-US" sz="1200" i="1" dirty="0" smtClean="0"/>
              <a:t>really Not Spam </a:t>
            </a:r>
          </a:p>
          <a:p>
            <a:pPr lvl="1" algn="just">
              <a:buFont typeface="+mj-lt"/>
              <a:buAutoNum type="arabicPeriod"/>
            </a:pPr>
            <a:r>
              <a:rPr lang="en-US" sz="1200" b="1" dirty="0" smtClean="0"/>
              <a:t>False Negative (FN):</a:t>
            </a:r>
            <a:r>
              <a:rPr lang="en-US" sz="1200" dirty="0"/>
              <a:t> </a:t>
            </a:r>
            <a:r>
              <a:rPr lang="en-US" sz="1200" dirty="0" smtClean="0"/>
              <a:t>Model predicts </a:t>
            </a:r>
            <a:r>
              <a:rPr lang="en-US" sz="1200" i="1" dirty="0" smtClean="0"/>
              <a:t>Not Spam</a:t>
            </a:r>
            <a:r>
              <a:rPr lang="en-US" sz="1200" dirty="0" smtClean="0"/>
              <a:t> → Email is </a:t>
            </a:r>
            <a:r>
              <a:rPr lang="en-US" sz="1200" i="1" dirty="0" smtClean="0"/>
              <a:t>actually Spam  </a:t>
            </a:r>
            <a:r>
              <a:rPr lang="en-US" sz="1200" dirty="0" smtClean="0"/>
              <a:t>➝ </a:t>
            </a:r>
            <a:r>
              <a:rPr lang="en-US" sz="1200" i="1" dirty="0" smtClean="0"/>
              <a:t>Missed positive case</a:t>
            </a:r>
            <a:endParaRPr lang="en-US" sz="1200" dirty="0" smtClean="0"/>
          </a:p>
          <a:p>
            <a:pPr marL="0" indent="0">
              <a:buNone/>
            </a:pPr>
            <a:r>
              <a:rPr lang="en-GB" sz="1200" b="1" dirty="0" smtClean="0"/>
              <a:t>Why It Matters</a:t>
            </a:r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Accuracy counts </a:t>
            </a:r>
            <a:r>
              <a:rPr lang="en-GB" sz="1200" b="1" dirty="0" smtClean="0"/>
              <a:t>all correct cases</a:t>
            </a:r>
            <a:endParaRPr lang="en-GB" sz="1200" dirty="0" smtClean="0"/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Precision depends on </a:t>
            </a:r>
            <a:r>
              <a:rPr lang="en-GB" sz="1200" b="1" dirty="0" smtClean="0"/>
              <a:t>TP and FP</a:t>
            </a:r>
            <a:endParaRPr lang="en-GB" sz="1200" dirty="0" smtClean="0"/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Recall depends on </a:t>
            </a:r>
            <a:r>
              <a:rPr lang="en-GB" sz="1200" b="1" dirty="0" smtClean="0"/>
              <a:t>TP and FN</a:t>
            </a:r>
            <a:endParaRPr lang="en-GB" sz="1200" dirty="0" smtClean="0"/>
          </a:p>
          <a:p>
            <a:pPr marL="0" indent="0">
              <a:buNone/>
            </a:pPr>
            <a:r>
              <a:rPr lang="en-GB" sz="1200" dirty="0" smtClean="0">
                <a:solidFill>
                  <a:srgbClr val="FF0000"/>
                </a:solidFill>
              </a:rPr>
              <a:t>👉 </a:t>
            </a:r>
            <a:r>
              <a:rPr lang="en-GB" sz="1200" b="1" dirty="0" smtClean="0">
                <a:solidFill>
                  <a:srgbClr val="FF0000"/>
                </a:solidFill>
              </a:rPr>
              <a:t>This matrix is the foundation for all evaluation metrics.</a:t>
            </a:r>
            <a:endParaRPr lang="en-GB" sz="1200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GB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701" y="2711395"/>
            <a:ext cx="2997515" cy="19109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0953" y="5715298"/>
            <a:ext cx="36887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b="1" dirty="0" smtClean="0">
                <a:solidFill>
                  <a:srgbClr val="FF0000"/>
                </a:solidFill>
              </a:rPr>
              <a:t>Confusion Matrix helps us understand </a:t>
            </a:r>
            <a:r>
              <a:rPr lang="en-GB" sz="1200" b="1" i="1" dirty="0" smtClean="0">
                <a:solidFill>
                  <a:srgbClr val="FF0000"/>
                </a:solidFill>
              </a:rPr>
              <a:t>how</a:t>
            </a:r>
            <a:r>
              <a:rPr lang="en-GB" sz="1200" b="1" dirty="0" smtClean="0">
                <a:solidFill>
                  <a:srgbClr val="FF0000"/>
                </a:solidFill>
              </a:rPr>
              <a:t> mistakes happen, not just </a:t>
            </a:r>
            <a:r>
              <a:rPr lang="en-GB" sz="1200" b="1" i="1" dirty="0" smtClean="0">
                <a:solidFill>
                  <a:srgbClr val="FF0000"/>
                </a:solidFill>
              </a:rPr>
              <a:t>how many</a:t>
            </a:r>
            <a:r>
              <a:rPr lang="en-GB" sz="1200" b="1" dirty="0" smtClean="0">
                <a:solidFill>
                  <a:srgbClr val="FF0000"/>
                </a:solidFill>
              </a:rPr>
              <a:t> happen.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82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0000"/>
            <a:ext cx="10515600" cy="505944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PRECISION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GB" sz="1200" dirty="0" smtClean="0"/>
              <a:t>Precision measures how often a classification model is correct </a:t>
            </a:r>
            <a:r>
              <a:rPr lang="en-GB" sz="1200" b="1" dirty="0" smtClean="0"/>
              <a:t>when it predicts the positive class</a:t>
            </a:r>
            <a:r>
              <a:rPr lang="en-GB" sz="1200" dirty="0" smtClean="0"/>
              <a:t>.</a:t>
            </a:r>
          </a:p>
          <a:p>
            <a:pPr marL="0" indent="0">
              <a:buNone/>
            </a:pPr>
            <a:r>
              <a:rPr lang="en-GB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meaning:</a:t>
            </a:r>
            <a:r>
              <a:rPr lang="en-GB" sz="1200" dirty="0" smtClean="0"/>
              <a:t>👉 When the model says </a:t>
            </a:r>
            <a:r>
              <a:rPr lang="en-GB" sz="1200" i="1" dirty="0" smtClean="0"/>
              <a:t>“Spam”</a:t>
            </a:r>
            <a:r>
              <a:rPr lang="en-GB" sz="1200" dirty="0" smtClean="0"/>
              <a:t>, how often is it actually spam?</a:t>
            </a:r>
          </a:p>
          <a:p>
            <a:pPr marL="0" indent="0">
              <a:buNone/>
            </a:pP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</a:p>
          <a:p>
            <a:pPr marL="0" indent="0">
              <a:buNone/>
            </a:pPr>
            <a:endParaRPr lang="en-GB" sz="1200" b="1" dirty="0" smtClean="0"/>
          </a:p>
          <a:p>
            <a:pPr marL="0" indent="0">
              <a:buNone/>
            </a:pPr>
            <a:r>
              <a:rPr lang="en-GB" sz="1200" b="1" dirty="0" smtClean="0"/>
              <a:t>Interpretation:</a:t>
            </a:r>
            <a:endParaRPr lang="en-GB" sz="1200" dirty="0" smtClean="0"/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Focuses only on </a:t>
            </a:r>
            <a:r>
              <a:rPr lang="en-GB" sz="1200" b="1" dirty="0" smtClean="0"/>
              <a:t>positive predictions.</a:t>
            </a:r>
          </a:p>
          <a:p>
            <a:pPr lvl="1">
              <a:buFont typeface="+mj-lt"/>
              <a:buAutoNum type="arabicPeriod"/>
            </a:pPr>
            <a:r>
              <a:rPr lang="en-US" sz="1200" dirty="0" smtClean="0"/>
              <a:t>Penalizes </a:t>
            </a:r>
            <a:r>
              <a:rPr lang="en-US" sz="1200" b="1" dirty="0" smtClean="0"/>
              <a:t>false alarms.</a:t>
            </a:r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Does not consider </a:t>
            </a:r>
            <a:r>
              <a:rPr lang="en-GB" sz="1200" b="1" dirty="0" smtClean="0"/>
              <a:t>missed positive cases (false negatives)</a:t>
            </a:r>
            <a:r>
              <a:rPr lang="en-GB" sz="1200" dirty="0" smtClean="0"/>
              <a:t>.</a:t>
            </a:r>
            <a:endParaRPr lang="en-GB" sz="1200" b="1" dirty="0" smtClean="0"/>
          </a:p>
          <a:p>
            <a:pPr marL="0" indent="0">
              <a:buNone/>
            </a:pP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51722" y="4802645"/>
            <a:ext cx="362898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b="1" dirty="0" smtClean="0">
                <a:solidFill>
                  <a:srgbClr val="FF0000"/>
                </a:solidFill>
              </a:rPr>
              <a:t>Precision answers: </a:t>
            </a:r>
            <a:r>
              <a:rPr lang="en-GB" sz="1200" b="1" i="1" dirty="0" smtClean="0">
                <a:solidFill>
                  <a:srgbClr val="FF0000"/>
                </a:solidFill>
              </a:rPr>
              <a:t>“Can I trust positive predictions?”</a:t>
            </a:r>
            <a:endParaRPr lang="en-US" sz="1200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463" y="2424334"/>
            <a:ext cx="2077318" cy="88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74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0000"/>
            <a:ext cx="10515600" cy="50594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— EXAMPLE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Precision Calculation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Total emails = 60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Model predicts 6 emails as Spam</a:t>
            </a:r>
          </a:p>
          <a:p>
            <a:pPr marL="0" indent="0">
              <a:buNone/>
            </a:pPr>
            <a:r>
              <a:rPr lang="en-GB" sz="1200" b="1" dirty="0"/>
              <a:t>Among predicted Spam emails</a:t>
            </a:r>
          </a:p>
          <a:p>
            <a:pPr lvl="1">
              <a:buFont typeface="+mj-lt"/>
              <a:buAutoNum type="arabicPeriod"/>
            </a:pPr>
            <a:r>
              <a:rPr lang="en-GB" sz="1050" dirty="0"/>
              <a:t>✅ True Positives (correct spam) = 3</a:t>
            </a:r>
          </a:p>
          <a:p>
            <a:pPr lvl="1">
              <a:buFont typeface="+mj-lt"/>
              <a:buAutoNum type="arabicPeriod"/>
            </a:pPr>
            <a:r>
              <a:rPr lang="en-GB" sz="1050" dirty="0"/>
              <a:t>❌ False Positives (not spam but predicted spam) = 3</a:t>
            </a:r>
          </a:p>
          <a:p>
            <a:pPr marL="0" indent="0">
              <a:buNone/>
            </a:pPr>
            <a:r>
              <a:rPr lang="en-GB" sz="1200" dirty="0"/>
              <a:t>Interpretation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The model is correct only half the time when it predicts spam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50% of spam predictions are false alarms</a:t>
            </a:r>
          </a:p>
          <a:p>
            <a:pPr marL="0" indent="0">
              <a:buNone/>
            </a:pPr>
            <a:endParaRPr lang="en-GB" sz="1200" dirty="0" smtClean="0"/>
          </a:p>
          <a:p>
            <a:pPr marL="0" indent="0">
              <a:buNone/>
            </a:pPr>
            <a:r>
              <a:rPr lang="en-GB" sz="1200" dirty="0" smtClean="0"/>
              <a:t>❌ </a:t>
            </a:r>
            <a:r>
              <a:rPr lang="en-GB" sz="1200" dirty="0"/>
              <a:t>High number of false positives → Low precision</a:t>
            </a:r>
          </a:p>
          <a:p>
            <a:pPr marL="0" indent="0">
              <a:buNone/>
            </a:pP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017" y="1875022"/>
            <a:ext cx="2587382" cy="141815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12763" y="3421494"/>
            <a:ext cx="3283889" cy="424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smtClean="0">
                <a:solidFill>
                  <a:schemeClr val="tx1"/>
                </a:solidFill>
              </a:rPr>
              <a:t>Predicted spam vs predicted non-spam grid with ✔ and ✖</a:t>
            </a:r>
            <a:endParaRPr lang="en-US" sz="1000" b="1" dirty="0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753" y="4322650"/>
            <a:ext cx="2879911" cy="137773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152446" y="4481553"/>
            <a:ext cx="2401294" cy="12751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rgbClr val="FF0000"/>
                </a:solidFill>
              </a:rPr>
              <a:t>Precision tells us how reliable positive predictions are.</a:t>
            </a:r>
            <a:r>
              <a:rPr lang="en-GB" sz="1200" dirty="0" smtClean="0">
                <a:solidFill>
                  <a:srgbClr val="FF0000"/>
                </a:solidFill>
              </a:rPr>
              <a:t/>
            </a:r>
            <a:br>
              <a:rPr lang="en-GB" sz="1200" dirty="0" smtClean="0">
                <a:solidFill>
                  <a:srgbClr val="FF0000"/>
                </a:solidFill>
              </a:rPr>
            </a:br>
            <a:r>
              <a:rPr lang="en-GB" sz="1200" dirty="0" smtClean="0">
                <a:solidFill>
                  <a:srgbClr val="FF0000"/>
                </a:solidFill>
              </a:rPr>
              <a:t>High precision = </a:t>
            </a:r>
            <a:r>
              <a:rPr lang="en-GB" sz="1200" b="1" dirty="0" smtClean="0">
                <a:solidFill>
                  <a:srgbClr val="FF0000"/>
                </a:solidFill>
              </a:rPr>
              <a:t>fewer false alarms</a:t>
            </a:r>
            <a:r>
              <a:rPr lang="en-GB" sz="1200" dirty="0" smtClean="0">
                <a:solidFill>
                  <a:srgbClr val="FF0000"/>
                </a:solidFill>
              </a:rPr>
              <a:t> ✅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741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0000"/>
            <a:ext cx="10515600" cy="505944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RECALL?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GB" sz="1200" dirty="0" smtClean="0"/>
              <a:t>Recall measures how many actual positive cases a classification model correctly identifies.</a:t>
            </a:r>
          </a:p>
          <a:p>
            <a:pPr marL="0" indent="0">
              <a:buNone/>
            </a:pPr>
            <a:r>
              <a:rPr lang="en-GB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meaning:</a:t>
            </a:r>
            <a:r>
              <a:rPr lang="en-GB" sz="1200" dirty="0" smtClean="0"/>
              <a:t>👉 </a:t>
            </a:r>
            <a:r>
              <a:rPr lang="en-GB" sz="1200" i="1" dirty="0" smtClean="0"/>
              <a:t>Out of all real “Spam” emails, how many did the model catch?</a:t>
            </a:r>
            <a:endParaRPr lang="en-GB" sz="1200" dirty="0" smtClean="0"/>
          </a:p>
          <a:p>
            <a:pPr marL="0" indent="0">
              <a:buNone/>
            </a:pP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</a:p>
          <a:p>
            <a:pPr marL="0" indent="0">
              <a:buNone/>
            </a:pPr>
            <a:endParaRPr lang="en-GB" sz="1200" b="1" dirty="0" smtClean="0"/>
          </a:p>
          <a:p>
            <a:pPr marL="0" indent="0">
              <a:buNone/>
            </a:pPr>
            <a:r>
              <a:rPr lang="en-GB" sz="1200" b="1" dirty="0" smtClean="0"/>
              <a:t>Interpretation:</a:t>
            </a:r>
            <a:endParaRPr lang="en-GB" sz="1200" dirty="0" smtClean="0"/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Focuses on </a:t>
            </a:r>
            <a:r>
              <a:rPr lang="en-GB" sz="1200" b="1" dirty="0" smtClean="0"/>
              <a:t>actual positive cases.</a:t>
            </a:r>
          </a:p>
          <a:p>
            <a:pPr lvl="1">
              <a:buFont typeface="+mj-lt"/>
              <a:buAutoNum type="arabicPeriod"/>
            </a:pPr>
            <a:r>
              <a:rPr lang="en-US" sz="1200" dirty="0" smtClean="0"/>
              <a:t>Penalizes </a:t>
            </a:r>
            <a:r>
              <a:rPr lang="en-US" sz="1200" b="1" dirty="0" smtClean="0"/>
              <a:t>missed positives.</a:t>
            </a:r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Does </a:t>
            </a:r>
            <a:r>
              <a:rPr lang="en-GB" sz="1200" b="1" dirty="0" smtClean="0"/>
              <a:t>not</a:t>
            </a:r>
            <a:r>
              <a:rPr lang="en-GB" sz="1200" dirty="0" smtClean="0"/>
              <a:t> consider false alarms.</a:t>
            </a:r>
            <a:endParaRPr lang="en-US" sz="1200" b="1" dirty="0" smtClean="0"/>
          </a:p>
          <a:p>
            <a:pPr marL="0" indent="0">
              <a:buNone/>
            </a:pP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51722" y="4802645"/>
            <a:ext cx="362898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b="1" dirty="0" smtClean="0">
                <a:solidFill>
                  <a:srgbClr val="FF0000"/>
                </a:solidFill>
              </a:rPr>
              <a:t>Recall answers: </a:t>
            </a:r>
            <a:r>
              <a:rPr lang="en-GB" sz="1200" b="1" i="1" dirty="0" smtClean="0">
                <a:solidFill>
                  <a:srgbClr val="FF0000"/>
                </a:solidFill>
              </a:rPr>
              <a:t>“Did we miss anything important?”</a:t>
            </a:r>
            <a:endParaRPr lang="en-US" sz="12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876" y="2468939"/>
            <a:ext cx="2409603" cy="99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55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0000"/>
            <a:ext cx="10515600" cy="50594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— EXAMPLE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b="1" dirty="0" smtClean="0"/>
              <a:t>Example: Recall Calculation</a:t>
            </a:r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Total emails = </a:t>
            </a:r>
            <a:r>
              <a:rPr lang="en-GB" sz="1200" b="1" dirty="0" smtClean="0"/>
              <a:t>60</a:t>
            </a:r>
            <a:endParaRPr lang="en-GB" sz="1200" dirty="0" smtClean="0"/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Actual spam emails = </a:t>
            </a:r>
            <a:r>
              <a:rPr lang="en-GB" sz="1200" b="1" dirty="0" smtClean="0"/>
              <a:t>3</a:t>
            </a:r>
            <a:endParaRPr lang="en-GB" sz="1200" dirty="0" smtClean="0"/>
          </a:p>
          <a:p>
            <a:pPr marL="0" indent="0">
              <a:buNone/>
            </a:pPr>
            <a:r>
              <a:rPr lang="en-GB" sz="1200" b="1" dirty="0" smtClean="0"/>
              <a:t>Model Performance</a:t>
            </a:r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✅ True Positives (spam correctly detected) = </a:t>
            </a:r>
            <a:r>
              <a:rPr lang="en-GB" sz="1200" b="1" dirty="0" smtClean="0"/>
              <a:t>3</a:t>
            </a:r>
            <a:endParaRPr lang="en-GB" sz="1200" dirty="0" smtClean="0"/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❌ False Negatives (spam missed) = </a:t>
            </a:r>
            <a:r>
              <a:rPr lang="en-GB" sz="1200" b="1" dirty="0" smtClean="0"/>
              <a:t>0</a:t>
            </a:r>
            <a:endParaRPr lang="en-GB" sz="1200" dirty="0" smtClean="0"/>
          </a:p>
          <a:p>
            <a:pPr marL="0" indent="0">
              <a:buNone/>
            </a:pPr>
            <a:r>
              <a:rPr lang="en-US" sz="1200" b="1" dirty="0" smtClean="0"/>
              <a:t>Recall Calculation</a:t>
            </a:r>
          </a:p>
          <a:p>
            <a:pPr marL="0" indent="0">
              <a:buNone/>
            </a:pPr>
            <a:r>
              <a:rPr lang="en-GB" sz="1200" b="1" dirty="0" smtClean="0"/>
              <a:t>Interpretation</a:t>
            </a:r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The model detected </a:t>
            </a:r>
            <a:r>
              <a:rPr lang="en-GB" sz="1200" b="1" dirty="0" smtClean="0"/>
              <a:t>all spam emails</a:t>
            </a:r>
            <a:endParaRPr lang="en-GB" sz="1200" dirty="0" smtClean="0"/>
          </a:p>
          <a:p>
            <a:pPr lvl="1">
              <a:buFont typeface="+mj-lt"/>
              <a:buAutoNum type="arabicPeriod"/>
            </a:pPr>
            <a:r>
              <a:rPr lang="en-GB" sz="1200" b="1" dirty="0" smtClean="0"/>
              <a:t>No spam was missed</a:t>
            </a:r>
            <a:endParaRPr lang="en-GB" sz="1200" dirty="0" smtClean="0"/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✅ Excellent recall</a:t>
            </a:r>
          </a:p>
          <a:p>
            <a:pPr marL="0" indent="0">
              <a:buNone/>
            </a:pPr>
            <a:r>
              <a:rPr lang="en-GB" sz="1200" dirty="0" smtClean="0">
                <a:solidFill>
                  <a:srgbClr val="FF0000"/>
                </a:solidFill>
              </a:rPr>
              <a:t>⚠️ </a:t>
            </a:r>
            <a:r>
              <a:rPr lang="en-GB" sz="1200" b="1" dirty="0" smtClean="0">
                <a:solidFill>
                  <a:srgbClr val="FF0000"/>
                </a:solidFill>
              </a:rPr>
              <a:t>BUT…</a:t>
            </a:r>
            <a:endParaRPr lang="en-GB" sz="1200" dirty="0" smtClean="0">
              <a:solidFill>
                <a:srgbClr val="FF0000"/>
              </a:solidFill>
            </a:endParaRPr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Some non-spam emails may still be flagged as spam</a:t>
            </a:r>
          </a:p>
          <a:p>
            <a:pPr lvl="1">
              <a:buFont typeface="+mj-lt"/>
              <a:buAutoNum type="arabicPeriod"/>
            </a:pPr>
            <a:r>
              <a:rPr lang="en-GB" sz="1200" dirty="0" smtClean="0"/>
              <a:t>High recall does NOT guarantee few false alarms.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915" y="1825625"/>
            <a:ext cx="3322885" cy="19048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4314439"/>
            <a:ext cx="3250188" cy="1596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16055" y="3474720"/>
            <a:ext cx="2313829" cy="1727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smtClean="0">
                <a:solidFill>
                  <a:srgbClr val="FF0000"/>
                </a:solidFill>
              </a:rPr>
              <a:t> </a:t>
            </a:r>
            <a:endParaRPr lang="en-GB" sz="1000" b="1" dirty="0">
              <a:solidFill>
                <a:srgbClr val="FF0000"/>
              </a:solidFill>
            </a:endParaRPr>
          </a:p>
          <a:p>
            <a:pPr algn="ctr"/>
            <a:r>
              <a:rPr lang="en-GB" sz="1000" b="1" dirty="0" smtClean="0">
                <a:solidFill>
                  <a:srgbClr val="FF0000"/>
                </a:solidFill>
              </a:rPr>
              <a:t>High recall = no missed positives ✅  </a:t>
            </a:r>
          </a:p>
          <a:p>
            <a:pPr algn="ctr"/>
            <a:r>
              <a:rPr lang="en-GB" sz="1000" b="1" dirty="0" smtClean="0">
                <a:solidFill>
                  <a:srgbClr val="FF0000"/>
                </a:solidFill>
              </a:rPr>
              <a:t>But it may increase false alarms ⚠</a:t>
            </a:r>
          </a:p>
          <a:p>
            <a:pPr algn="ctr"/>
            <a:endParaRPr 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648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0000"/>
            <a:ext cx="10515600" cy="505944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vs PRECISION vs RECALL (Summary)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5172987" cy="4408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b="1" dirty="0"/>
              <a:t>Accuracy: How often is the model correct overall?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Uses: TP + TN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Ignores: Which type of mistake happened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Best when classes are </a:t>
            </a:r>
            <a:r>
              <a:rPr lang="en-GB" sz="1200" dirty="0" smtClean="0"/>
              <a:t>balanced</a:t>
            </a:r>
          </a:p>
          <a:p>
            <a:pPr marL="457200" lvl="1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b="1" dirty="0" smtClean="0"/>
              <a:t>Precision: When </a:t>
            </a:r>
            <a:r>
              <a:rPr lang="en-GB" sz="1200" b="1" dirty="0"/>
              <a:t>the model predicts Positive, how often is it correct?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Uses: TP and FP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Penalises: False Positives (false alarms)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Answers: “Can I trust positive predictions</a:t>
            </a:r>
            <a:r>
              <a:rPr lang="en-GB" sz="1200" dirty="0" smtClean="0"/>
              <a:t>?”</a:t>
            </a:r>
          </a:p>
          <a:p>
            <a:pPr lvl="1">
              <a:buFont typeface="+mj-lt"/>
              <a:buAutoNum type="arabicPeriod"/>
            </a:pPr>
            <a:endParaRPr lang="en-GB" sz="1200" dirty="0"/>
          </a:p>
          <a:p>
            <a:pPr marL="0" indent="0">
              <a:buNone/>
            </a:pPr>
            <a:r>
              <a:rPr lang="en-GB" sz="1200" b="1" dirty="0" smtClean="0"/>
              <a:t>Recall: Out </a:t>
            </a:r>
            <a:r>
              <a:rPr lang="en-GB" sz="1200" b="1" dirty="0"/>
              <a:t>of all actual Positive cases, how many did we detect?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Uses: TP and FN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Penalises: False Negatives (missed positives)</a:t>
            </a:r>
          </a:p>
          <a:p>
            <a:pPr lvl="1">
              <a:buFont typeface="+mj-lt"/>
              <a:buAutoNum type="arabicPeriod"/>
            </a:pPr>
            <a:r>
              <a:rPr lang="en-GB" sz="1200" dirty="0"/>
              <a:t>Answers: “Did we miss anything important?”</a:t>
            </a:r>
          </a:p>
          <a:p>
            <a:pPr marL="0" indent="0">
              <a:buNone/>
            </a:pP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798" y="3029447"/>
            <a:ext cx="3108962" cy="19242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GB" sz="1200" b="1" dirty="0">
                <a:solidFill>
                  <a:srgbClr val="FF0000"/>
                </a:solidFill>
              </a:rPr>
              <a:t>Accuracy tells how many predictions are correct overall.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1" dirty="0">
                <a:solidFill>
                  <a:srgbClr val="FF0000"/>
                </a:solidFill>
              </a:rPr>
              <a:t>Precision tells how reliable positive predictions are.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1" dirty="0">
                <a:solidFill>
                  <a:srgbClr val="FF0000"/>
                </a:solidFill>
              </a:rPr>
              <a:t>Recall tells how many real positives we detected.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94426" y="5864491"/>
            <a:ext cx="5906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No single metric is enough — choose based on the problem.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34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840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Accuracy, Precision &amp; Recall in Machine Learning</vt:lpstr>
      <vt:lpstr>WHY DO WE NEED EVALUATION METRICS?</vt:lpstr>
      <vt:lpstr>WHAT IS ACCURACY?</vt:lpstr>
      <vt:lpstr>ACCURACY — EXAMPLE &amp; ACCURACY PARADOX</vt:lpstr>
      <vt:lpstr>CONFUSION MATRIX</vt:lpstr>
      <vt:lpstr>WHAT IS PRECISION?</vt:lpstr>
      <vt:lpstr>PRECISION — EXAMPLE &amp; INTERPRETATION</vt:lpstr>
      <vt:lpstr>WHAT IS RECALL?</vt:lpstr>
      <vt:lpstr>RECALL — EXAMPLE &amp; INTERPRETATION</vt:lpstr>
      <vt:lpstr>ACCURACY vs PRECISION vs RECALL (Summary)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Accuracy, Precision &amp; Recall in Machine Learning</dc:title>
  <dc:creator>Ghulam Mustafa</dc:creator>
  <cp:lastModifiedBy>Ghulam Mustafa</cp:lastModifiedBy>
  <cp:revision>11</cp:revision>
  <dcterms:created xsi:type="dcterms:W3CDTF">2025-12-09T23:25:09Z</dcterms:created>
  <dcterms:modified xsi:type="dcterms:W3CDTF">2025-12-10T00:52:13Z</dcterms:modified>
</cp:coreProperties>
</file>